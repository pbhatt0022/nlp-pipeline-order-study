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EF1F33-0C1F-432D-A1E5-1C00FC332CD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0CD-FD44-4E82-B43A-7C6DDB39D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140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sentence: "We built a complete search engine for video-game articles, and asked whether the order of text processing changes what it finds."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840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A search engine has two halves: the indexer, built ahead of time, and the searcher, used at question time.</a:t>
            </a:r>
          </a:p>
          <a:p>
            <a:r>
              <a:rPr lang="en-US"/>
              <a:t>- Everything between raw text and the index decides which "words" exist. That is the decision our two pipelines disagree on.</a:t>
            </a:r>
          </a:p>
          <a:p>
            <a:r>
              <a:rPr lang="en-US"/>
              <a:t>- Point at the diagram: the query goes through the same pipeline as the documents.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800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Video games are hard for generic tools: names with hyphens and numbers, names made of ordinary words, spelling variants.</a:t>
            </a:r>
          </a:p>
          <a:p>
            <a:r>
              <a:rPr lang="en-US"/>
              <a:t>- The corpus comes from MIRACL, a public retrieval benchmark: 12 real questions and the Wikipedia articles judged for them.</a:t>
            </a:r>
          </a:p>
          <a:p>
            <a:r>
              <a:rPr lang="en-US"/>
              <a:t>- Those articles include hard negatives: on-topic articles judged not relevant, which make retrieval harder.</a:t>
            </a:r>
          </a:p>
          <a:p>
            <a:r>
              <a:rPr lang="en-US"/>
              <a:t>- Why 53 documents, not 15:</a:t>
            </a:r>
          </a:p>
          <a:p>
            <a:r>
              <a:rPr lang="en-US"/>
              <a:t>  - each question needs several relevant documents and some negatives, otherwise recall can only ever be 0 or 1;</a:t>
            </a:r>
          </a:p>
          <a:p>
            <a:r>
              <a:rPr lang="en-US"/>
              <a:t>  - the 53 documents were fixed in the preregistration.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155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Every stage that makes a decision has an answer key.</a:t>
            </a:r>
          </a:p>
          <a:p>
            <a:r>
              <a:rPr lang="en-US"/>
              <a:t>- Stress the process:</a:t>
            </a:r>
          </a:p>
          <a:p>
            <a:r>
              <a:rPr lang="en-US"/>
              <a:t>  - hypotheses and the selection rule were written down before any result;</a:t>
            </a:r>
          </a:p>
          <a:p>
            <a:r>
              <a:rPr lang="en-US"/>
              <a:t>  - every later change is a dated amendment in the decision log.</a:t>
            </a:r>
          </a:p>
          <a:p>
            <a:r>
              <a:rPr lang="en-US"/>
              <a:t>- The relevance labels come from two reviewers, so search numbers are called preliminary. Say this up front: it builds trust.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079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This is the most important slide of the talk.</a:t>
            </a:r>
          </a:p>
          <a:p>
            <a:r>
              <a:rPr lang="en-US"/>
              <a:t>- General tokenizers keep 0 of 91 multi-word names intact; the hybrid keeps 91 of 91.</a:t>
            </a:r>
          </a:p>
          <a:p>
            <a:r>
              <a:rPr lang="en-US"/>
              <a:t>- Read the Counter-Strike example aloud: spaCy produces six pieces, the hybrid one token.</a:t>
            </a:r>
          </a:p>
          <a:p>
            <a:r>
              <a:rPr lang="en-US"/>
              <a:t>- The hybrid tokenizer is used in both pipelines. Its limit: it only knows the names in the lexicon.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184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BPE never meets an unknown word and keeps the vocabulary tiny: 3,242 types.</a:t>
            </a:r>
          </a:p>
          <a:p>
            <a:r>
              <a:rPr lang="en-US"/>
              <a:t>- But met | roid is not something a user types.</a:t>
            </a:r>
          </a:p>
          <a:p>
            <a:r>
              <a:rPr lang="en-US"/>
              <a:t>- So BPE was analysed but not used for the index.</a:t>
            </a:r>
          </a:p>
          <a:p>
            <a:r>
              <a:rPr lang="en-US"/>
              <a:t>- Nice detail: the corpus-trained model learned nintendo as one piece; GPT-2 splits it into n | intendo.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480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We planted a trap: universe vs university. Every stemmer falls into it; lemmatizers never over-merge.</a:t>
            </a:r>
          </a:p>
          <a:p>
            <a:r>
              <a:rPr lang="en-US"/>
              <a:t>- Order matters: Porter run before stop-word removal leaks thi, wa, ha into the index. That is why B removes stop words first and uses Snowball.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776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spaCy calls Prey, Doom and Halo people. A lexicon-driven EntityRuler fixes this: 29 → 37 of 51 entities correct.</a:t>
            </a:r>
          </a:p>
          <a:p>
            <a:r>
              <a:rPr lang="en-US"/>
              <a:t>- Be honest about POS: the dictionary tagger's gain over NLTK is one token out of 226, which is within noise.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91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Almost every long sequence is unique, which is why a "phrase" must occur at least twice.</a:t>
            </a:r>
          </a:p>
          <a:p>
            <a:r>
              <a:rPr lang="en-US"/>
              <a:t>- A's top bigrams are grammar (it be); B's are content (lara croft).</a:t>
            </a:r>
          </a:p>
          <a:p>
            <a:r>
              <a:rPr lang="en-US"/>
              <a:t>- The meaningful-bigram test is biased toward B, because it checks against the stop list B has already removed. We report that bias ourselves.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955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A is the linguist: tag while the capitals are still there, then reduce words to dictionary forms. Bet: careful analysis keeps names intact.</a:t>
            </a:r>
          </a:p>
          <a:p>
            <a:r>
              <a:rPr lang="en-US"/>
              <a:t>- B is the IR engineer: lowercase, drop all stop words, stem. Bet: aggressive merging gives more matches and a smaller index.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920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This answers the brief's mandatory questions: why each process, where it sits, what it depends on, what breaks if it moves.</a:t>
            </a:r>
          </a:p>
          <a:p>
            <a:r>
              <a:rPr lang="en-US"/>
              <a:t>- Pick two rows to say aloud:</a:t>
            </a:r>
          </a:p>
          <a:p>
            <a:r>
              <a:rPr lang="en-US"/>
              <a:t>  - tagging before lowercasing (otherwise Halo gets lemmatized);</a:t>
            </a:r>
          </a:p>
          <a:p>
            <a:r>
              <a:rPr lang="en-US"/>
              <a:t>  - stop words before stemming (otherwise thi and wa leak into the index).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3565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A keeps real words (release, praise); B keeps stems (releas, prais).</a:t>
            </a:r>
          </a:p>
          <a:p>
            <a:r>
              <a:rPr lang="en-US"/>
              <a:t>- Both keep names identical, because the tokenizer merged them first. This foreshadows the result.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179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Term → document → positions. Positions are what make phrase search possible.</a:t>
            </a:r>
          </a:p>
          <a:p>
            <a:r>
              <a:rPr lang="en-US"/>
              <a:t>- More than half of all terms occur in one document only. Terms found in every document get an idf of 0, which is the formal version of a stop word.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808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Boolean logic decides which documents match: AND intersects, OR unites, NOT subtracts. Phrases are checked by position.</a:t>
            </a:r>
          </a:p>
          <a:p>
            <a:r>
              <a:rPr lang="en-US"/>
              <a:t>- Ranking decides in what order: TF-IDF with title matches counting double.</a:t>
            </a:r>
          </a:p>
          <a:p>
            <a:r>
              <a:rPr lang="en-US"/>
              <a:t>- The 12 queries cover keyword, phrase, AND, OR and NOT.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3309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Six predictions, written before running anything.</a:t>
            </a:r>
          </a:p>
          <a:p>
            <a:r>
              <a:rPr lang="en-US"/>
              <a:t>- Three held: B is smaller (H1), B makes false phrase matches (H4), A keeps names (H5).</a:t>
            </a:r>
          </a:p>
          <a:p>
            <a:r>
              <a:rPr lang="en-US"/>
              <a:t>- Three did not: no recall difference (H2), no precision difference (H3), and the bigram test went the other way (H6).</a:t>
            </a:r>
          </a:p>
          <a:p>
            <a:r>
              <a:rPr lang="en-US"/>
              <a:t>- Say it plainly: reporting the failed predictions is part of the result.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0825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B's index is 29% smaller. A keeps all 128 names; B breaks 13 of them (Civilization → civil).</a:t>
            </a:r>
          </a:p>
          <a:p>
            <a:r>
              <a:rPr lang="en-US"/>
              <a:t>- Search results are identical on all 12 queries.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2949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AND and phrase queries do best; NOT does worst.</a:t>
            </a:r>
          </a:p>
          <a:p>
            <a:r>
              <a:rPr lang="en-US"/>
              <a:t>- The accuracy point: our searcher scores 0.898, but returning nothing scores 0.910. That is why accuracy is useless for search, and why we report precision and recall.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404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Every error was classified:</a:t>
            </a:r>
          </a:p>
          <a:p>
            <a:r>
              <a:rPr lang="en-US"/>
              <a:t>  - 54 of the 56 false hits are passing mentions;</a:t>
            </a:r>
          </a:p>
          <a:p>
            <a:r>
              <a:rPr lang="en-US"/>
              <a:t>  - 6 misses come from query logic;</a:t>
            </a:r>
          </a:p>
          <a:p>
            <a:r>
              <a:rPr lang="en-US"/>
              <a:t>  - 3 misses come from labels that look wrong.</a:t>
            </a:r>
          </a:p>
          <a:p>
            <a:r>
              <a:rPr lang="en-US"/>
              <a:t>- Zero errors come from any preprocessing step. That is exactly why A and B tie.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5410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The rule was fixed in advance. F1 ties (0.648 each), so the tie-breaker decides: name preservation 1.000 vs 0.898, which selects A.</a:t>
            </a:r>
          </a:p>
          <a:p>
            <a:r>
              <a:rPr lang="en-US"/>
              <a:t>- Key line: "A is not chosen because it searches better; it doesn't. It's chosen because, at equal search quality, its index represents the domain faithfully."</a:t>
            </a:r>
          </a:p>
          <a:p>
            <a:r>
              <a:rPr lang="en-US"/>
              <a:t>- Mention the costs: a larger index and slower indexing.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9115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This is your strongest reasoning slide; take your time.</a:t>
            </a:r>
          </a:p>
          <a:p>
            <a:r>
              <a:rPr lang="en-US"/>
              <a:t>- An automatically worded query, "there Sonic game", decided the whole comparison: B dropped there, A did not.</a:t>
            </a:r>
          </a:p>
          <a:p>
            <a:r>
              <a:rPr lang="en-US"/>
              <a:t>- We reproduced that run exactly. Then we rewrote the queries under a stated rule before seeing new results, and reported both runs.</a:t>
            </a:r>
          </a:p>
          <a:p>
            <a:r>
              <a:rPr lang="en-US"/>
              <a:t>- The finding: pipeline differences come from query wording, not from domain content.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0608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On an entity-heavy domain, the tokenizer and lexicon decide more than stemming vs lemmatization does.</a:t>
            </a:r>
          </a:p>
          <a:p>
            <a:r>
              <a:rPr lang="en-US"/>
              <a:t>- Label this as exploratory: we did not run a pipeline without name merging.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6888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Nine tabs cover all 15 required functions, and every button runs the real pipelines.</a:t>
            </a:r>
          </a:p>
          <a:p>
            <a:r>
              <a:rPr lang="en-US"/>
              <a:t>- If there is time, demo live:</a:t>
            </a:r>
          </a:p>
          <a:p>
            <a:r>
              <a:rPr lang="en-US"/>
              <a:t>  1. Search with Q03;</a:t>
            </a:r>
          </a:p>
          <a:p>
            <a:r>
              <a:rPr lang="en-US"/>
              <a:t>  2. Compare A vs B on Q02;</a:t>
            </a:r>
          </a:p>
          <a:p>
            <a:r>
              <a:rPr lang="en-US"/>
              <a:t>  3. Pipeline trace on the default sentence;</a:t>
            </a:r>
          </a:p>
          <a:p>
            <a:r>
              <a:rPr lang="en-US"/>
              <a:t>  4. Index lookup for Game Boy, then open D08.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3100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Name them before you are asked:</a:t>
            </a:r>
          </a:p>
          <a:p>
            <a:r>
              <a:rPr lang="en-US"/>
              <a:t>  - preliminary relevance labels;</a:t>
            </a:r>
          </a:p>
          <a:p>
            <a:r>
              <a:rPr lang="en-US"/>
              <a:t>  - only 12 queries;</a:t>
            </a:r>
          </a:p>
          <a:p>
            <a:r>
              <a:rPr lang="en-US"/>
              <a:t>  - a corpus built around its queries;</a:t>
            </a:r>
          </a:p>
          <a:p>
            <a:r>
              <a:rPr lang="en-US"/>
              <a:t>  - lexicon coverage.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9659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Read the five points.</a:t>
            </a:r>
          </a:p>
          <a:p>
            <a:r>
              <a:rPr lang="en-US"/>
              <a:t>- Close with: "All search results are preliminary until the relevance labels are re-judged."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70CD-FD44-4E82-B43A-7C6DDB39D00C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609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6AEBC-6FEF-E66E-ADDF-874DBC9B0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6F4FC-6F64-0B25-2077-324BDF5C0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C0FF7-C138-65DC-067A-49DBE212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FF13-A423-467F-8708-60DC1235D6E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6E4E6-CEF5-76AF-134D-FF2FC096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6AB41-9C77-4A82-BD4F-716EFCBD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FF52-D2D8-457C-AFFC-A334DE6E0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18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2652A-98AE-88A3-B5D5-BE41E2738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3404E-6803-4344-75D8-480EDD207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937F3-D443-C1D0-9ECF-1CDAC3C0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FF13-A423-467F-8708-60DC1235D6E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28E09-7D1B-16F9-E69D-8BD52EDA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8088D-5B85-2774-DF5A-AC31AE1D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FF52-D2D8-457C-AFFC-A334DE6E0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939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88AFF-D907-15F2-8887-59D90913F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A0096-25BC-3312-9E5E-16836ACF0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6F599-A401-9461-BBDB-21DF2A567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FF13-A423-467F-8708-60DC1235D6E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4F9C3-F7D8-3CD3-B645-8136D109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C634A-B7F2-0E17-E568-3D344CF7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FF52-D2D8-457C-AFFC-A334DE6E0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F2A2-9FF9-A19A-09A0-809B36654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FDCCB-7EBD-A93E-6A0B-2FDA1F996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61988-ECCB-431A-5C37-DDFBC92A2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A8716-7EE1-85C8-2A12-511B36C6F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FF13-A423-467F-8708-60DC1235D6E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469BB-BFCC-B5F0-95CE-0BEC47A7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3D9A7-B169-A51F-C426-46B5E752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FF52-D2D8-457C-AFFC-A334DE6E0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710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E3C1F-5BD8-D50B-1D87-D18DA96F6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EF5A7-C5EC-B7D6-9A39-BB87BDB13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79CBB-67BE-6670-76F8-A5A2D01C1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F4798A-DD95-4FAF-54F5-0144604DB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6FB32-DA0C-6092-EF1E-3ED3987C9E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4B2249-F6DF-17A1-4A33-47303499F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FF13-A423-467F-8708-60DC1235D6E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E6277-1EDB-9101-FA31-9D0AEF391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1AE8BE-C20D-3CE9-9C6C-31CECFD1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FF52-D2D8-457C-AFFC-A334DE6E0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00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6101-6E8D-A811-6ADC-CCE830954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B6A749-534D-4334-E65E-18B83C5B5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FF13-A423-467F-8708-60DC1235D6E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62A5F-AEBB-558B-3C4A-574AA2E1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D34D0-B406-C260-97C1-1B030389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FF52-D2D8-457C-AFFC-A334DE6E0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37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652FBB-543C-560F-FB93-971398011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FF13-A423-467F-8708-60DC1235D6E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A325D8-ECCF-80FD-BDC7-A57EEB8A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F9E4C-1EC3-4601-9327-D78212DBA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FF52-D2D8-457C-AFFC-A334DE6E0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839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96AF-0DA3-D70C-26B5-D0E52FDE8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F5ABE-D855-B4F6-2F0E-21BA8DD80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E1FDD-73D9-7A27-DCEB-64E4983BA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1E4C0-F7D0-5212-62BA-97C48309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FF13-A423-467F-8708-60DC1235D6E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CA641-7F5A-5239-6D54-851946142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1090F-AE31-C703-1802-02BF17AA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FF52-D2D8-457C-AFFC-A334DE6E0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02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6BF3-DADC-0DE2-AE11-7882A632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55159F-FC72-5552-AE59-09CB05BA45A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955AD-EBBF-F511-16E9-3CC74D54F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169EE-5E98-9091-E5E9-E24EAD23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FF13-A423-467F-8708-60DC1235D6E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5581E-F98E-D005-52DD-F0AB371FD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49388-2007-C708-1D5E-51C3D8A8C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FF52-D2D8-457C-AFFC-A334DE6E0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74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D2152-EFDD-D3F9-EAA4-2101DBDE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708E93-FCB8-5DAF-39E0-E49ABD621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AEFB6-45FA-0EA1-2C73-1750DED68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FF13-A423-467F-8708-60DC1235D6E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DA7D9-63B9-6D1B-C543-1C20C7BA8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C2C7D-6F52-84BA-790D-AA8C3750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FF52-D2D8-457C-AFFC-A334DE6E0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804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C45F4-93F5-2BF6-D71B-AB4864579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2E1E3-5C8A-738C-2856-8EB909C74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CDBA1-9242-187F-4BA3-8681036A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FF13-A423-467F-8708-60DC1235D6E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44232-B288-5A11-7268-D242B82D2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1B2C5-39C1-2895-542A-040E60B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FF52-D2D8-457C-AFFC-A334DE6E0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05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9B02D-1CCF-4EFE-2270-27E291878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4BE2B-AC75-C3D7-DB64-9BCBA2F72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213DB-BF61-8672-F2B1-8994996A1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48FF13-A423-467F-8708-60DC1235D6E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4603A-64DB-2EEF-61D0-4323E318D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F84E4-C954-7CF5-F662-B65F487C7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AFF52-D2D8-457C-AFFC-A334DE6E0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14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5F4481-AA46-2A40-0717-AB2D97372A45}"/>
              </a:ext>
            </a:extLst>
          </p:cNvPr>
          <p:cNvSpPr/>
          <p:nvPr/>
        </p:nvSpPr>
        <p:spPr>
          <a:xfrm>
            <a:off x="508000" y="1524000"/>
            <a:ext cx="584200" cy="76200"/>
          </a:xfrm>
          <a:prstGeom prst="rect">
            <a:avLst/>
          </a:prstGeom>
          <a:solidFill>
            <a:srgbClr val="A64B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5E178-A18B-77E1-0734-33A5C331B7D7}"/>
              </a:ext>
            </a:extLst>
          </p:cNvPr>
          <p:cNvSpPr txBox="1"/>
          <p:nvPr/>
        </p:nvSpPr>
        <p:spPr>
          <a:xfrm>
            <a:off x="508000" y="1778000"/>
            <a:ext cx="11176000" cy="5740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3600" b="1">
                <a:solidFill>
                  <a:srgbClr val="1B2A41"/>
                </a:solidFill>
                <a:latin typeface="Calibri" panose="020F0502020204030204" pitchFamily="34" charset="0"/>
              </a:rPr>
              <a:t>A Search Engine for Video-Game Knowledge</a:t>
            </a:r>
            <a:endParaRPr lang="en-IN" sz="36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5200A9-E4EB-0572-ADF6-6FAF67A34D6D}"/>
              </a:ext>
            </a:extLst>
          </p:cNvPr>
          <p:cNvSpPr txBox="1"/>
          <p:nvPr/>
        </p:nvSpPr>
        <p:spPr>
          <a:xfrm>
            <a:off x="508000" y="2428240"/>
            <a:ext cx="11176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2000">
                <a:solidFill>
                  <a:srgbClr val="5F5E59"/>
                </a:solidFill>
                <a:latin typeface="Calibri" panose="020F0502020204030204" pitchFamily="34" charset="0"/>
              </a:rPr>
              <a:t>Text analysis, indexing and Boolean retrieval with two competing pipelines</a:t>
            </a:r>
            <a:endParaRPr lang="en-IN" sz="20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1D902-46DF-4F38-2601-884EB0339802}"/>
              </a:ext>
            </a:extLst>
          </p:cNvPr>
          <p:cNvSpPr txBox="1"/>
          <p:nvPr/>
        </p:nvSpPr>
        <p:spPr>
          <a:xfrm>
            <a:off x="508000" y="3266440"/>
            <a:ext cx="11176000" cy="2997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>
                <a:solidFill>
                  <a:srgbClr val="1B2A41"/>
                </a:solidFill>
                <a:latin typeface="Calibri" panose="020F0502020204030204" pitchFamily="34" charset="0"/>
              </a:rPr>
              <a:t>Priyanka B  ·  Sachin B  ·  Tiya P  ·  Vaidhav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AF0FD-74DB-AC09-383B-E0071A7BCF78}"/>
              </a:ext>
            </a:extLst>
          </p:cNvPr>
          <p:cNvSpPr txBox="1"/>
          <p:nvPr/>
        </p:nvSpPr>
        <p:spPr>
          <a:xfrm>
            <a:off x="508000" y="3667760"/>
            <a:ext cx="11176000" cy="4775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N" sz="1400">
                <a:solidFill>
                  <a:srgbClr val="5F5E59"/>
                </a:solidFill>
                <a:latin typeface="Calibri" panose="020F0502020204030204" pitchFamily="34" charset="0"/>
              </a:rPr>
              <a:t>Course code DATA403: Natural Language Processing  ·  Assessment-1</a:t>
            </a:r>
          </a:p>
          <a:p>
            <a:r>
              <a:rPr lang="en-IN" sz="1400">
                <a:solidFill>
                  <a:srgbClr val="5F5E59"/>
                </a:solidFill>
                <a:latin typeface="Calibri" panose="020F0502020204030204" pitchFamily="34" charset="0"/>
              </a:rPr>
              <a:t>Vidyashilp University, Bangalore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8789CB-E7EB-4B6C-ED94-1A319D3C910E}"/>
              </a:ext>
            </a:extLst>
          </p:cNvPr>
          <p:cNvSpPr txBox="1"/>
          <p:nvPr/>
        </p:nvSpPr>
        <p:spPr>
          <a:xfrm>
            <a:off x="508000" y="4246880"/>
            <a:ext cx="11176000" cy="238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400">
                <a:solidFill>
                  <a:srgbClr val="5F5E59"/>
                </a:solidFill>
                <a:latin typeface="Calibri" panose="020F0502020204030204" pitchFamily="34" charset="0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165236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E1F288-78E0-A362-2469-3A8A8BF1CB05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2800" b="1">
                <a:solidFill>
                  <a:srgbClr val="1B2A41"/>
                </a:solidFill>
                <a:latin typeface="Calibri" panose="020F0502020204030204" pitchFamily="34" charset="0"/>
              </a:rPr>
              <a:t>What we built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AB7EE-36AE-C7CC-AED2-02CA6AC1C8B2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A complete classical search engine, measured at every stage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2A09A5-74AC-703E-975D-5D3E5B0E3148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817464D-9F7B-214C-C1CF-DA82826BAD69}"/>
              </a:ext>
            </a:extLst>
          </p:cNvPr>
          <p:cNvSpPr txBox="1"/>
          <p:nvPr/>
        </p:nvSpPr>
        <p:spPr>
          <a:xfrm>
            <a:off x="508000" y="1397000"/>
            <a:ext cx="5588000" cy="40068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11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 b="1">
                <a:solidFill>
                  <a:srgbClr val="1B2A41"/>
                </a:solidFill>
                <a:latin typeface="Calibri" panose="020F0502020204030204" pitchFamily="34" charset="0"/>
              </a:rPr>
              <a:t>Indexer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(ahead of time): reads every document, builds a lookup table of every term and where it occurs</a:t>
            </a:r>
          </a:p>
          <a:p>
            <a:pPr marL="457200" indent="-457200">
              <a:spcAft>
                <a:spcPts val="11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 b="1">
                <a:solidFill>
                  <a:srgbClr val="1B2A41"/>
                </a:solidFill>
                <a:latin typeface="Calibri" panose="020F0502020204030204" pitchFamily="34" charset="0"/>
              </a:rPr>
              <a:t>Searcher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(at question time): looks terms up, combines them with </a:t>
            </a:r>
            <a:r>
              <a:rPr lang="en-US" sz="2125">
                <a:solidFill>
                  <a:srgbClr val="1B2A41"/>
                </a:solidFill>
                <a:latin typeface="Consolas" panose="020B0609020204030204" pitchFamily="49" charset="0"/>
              </a:rPr>
              <a:t>AND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/ </a:t>
            </a:r>
            <a:r>
              <a:rPr lang="en-US" sz="2125">
                <a:solidFill>
                  <a:srgbClr val="1B2A41"/>
                </a:solidFill>
                <a:latin typeface="Consolas" panose="020B0609020204030204" pitchFamily="49" charset="0"/>
              </a:rPr>
              <a:t>OR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/ </a:t>
            </a:r>
            <a:r>
              <a:rPr lang="en-US" sz="2125">
                <a:solidFill>
                  <a:srgbClr val="1B2A41"/>
                </a:solidFill>
                <a:latin typeface="Consolas" panose="020B0609020204030204" pitchFamily="49" charset="0"/>
              </a:rPr>
              <a:t>NOT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, ranks the result</a:t>
            </a:r>
          </a:p>
          <a:p>
            <a:pPr marL="457200" indent="-457200">
              <a:spcAft>
                <a:spcPts val="11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Everything in between decides </a:t>
            </a:r>
            <a:r>
              <a:rPr lang="en-US" sz="2125">
                <a:solidFill>
                  <a:srgbClr val="1D4ED8"/>
                </a:solidFill>
                <a:latin typeface="Calibri" panose="020F0502020204030204" pitchFamily="34" charset="0"/>
              </a:rPr>
              <a:t>which “words” exist at all</a:t>
            </a:r>
          </a:p>
          <a:p>
            <a:pPr marL="457200" indent="-457200">
              <a:spcAft>
                <a:spcPts val="11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Two pipelines make </a:t>
            </a:r>
            <a:r>
              <a:rPr lang="en-US" sz="2125">
                <a:solidFill>
                  <a:srgbClr val="1D4ED8"/>
                </a:solidFill>
                <a:latin typeface="Calibri" panose="020F0502020204030204" pitchFamily="34" charset="0"/>
              </a:rPr>
              <a:t>opposite bets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on that decision; we compare them under rules fixed in advance</a:t>
            </a:r>
            <a:endParaRPr lang="en-IN" sz="212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5B4741-3103-53B7-0B1B-FD50B9CCAFEE}"/>
              </a:ext>
            </a:extLst>
          </p:cNvPr>
          <p:cNvSpPr/>
          <p:nvPr/>
        </p:nvSpPr>
        <p:spPr>
          <a:xfrm>
            <a:off x="6858000" y="1397000"/>
            <a:ext cx="3175000" cy="457200"/>
          </a:xfrm>
          <a:prstGeom prst="roundRect">
            <a:avLst>
              <a:gd name="adj" fmla="val 12000"/>
            </a:avLst>
          </a:prstGeom>
          <a:solidFill>
            <a:srgbClr val="F1F2F4"/>
          </a:solidFill>
          <a:ln w="12700">
            <a:solidFill>
              <a:srgbClr val="8D95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53 Wikipedia articles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16DFF7-DF4E-78E2-441D-32A83744021E}"/>
              </a:ext>
            </a:extLst>
          </p:cNvPr>
          <p:cNvSpPr/>
          <p:nvPr/>
        </p:nvSpPr>
        <p:spPr>
          <a:xfrm>
            <a:off x="6858000" y="2070100"/>
            <a:ext cx="3175000" cy="457200"/>
          </a:xfrm>
          <a:prstGeom prst="roundRect">
            <a:avLst>
              <a:gd name="adj" fmla="val 12000"/>
            </a:avLst>
          </a:prstGeom>
          <a:solidFill>
            <a:srgbClr val="F1F2F4"/>
          </a:solidFill>
          <a:ln w="12700">
            <a:solidFill>
              <a:srgbClr val="8D95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clean + hybrid tokenize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084A91-945F-0655-E850-FA7EE266A4D9}"/>
              </a:ext>
            </a:extLst>
          </p:cNvPr>
          <p:cNvCxnSpPr/>
          <p:nvPr/>
        </p:nvCxnSpPr>
        <p:spPr>
          <a:xfrm>
            <a:off x="8445500" y="1854200"/>
            <a:ext cx="0" cy="215900"/>
          </a:xfrm>
          <a:prstGeom prst="straightConnector1">
            <a:avLst/>
          </a:prstGeom>
          <a:ln w="15875">
            <a:solidFill>
              <a:srgbClr val="5F5E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C83E718-2C34-C61C-1F2D-26ED31593ECA}"/>
              </a:ext>
            </a:extLst>
          </p:cNvPr>
          <p:cNvSpPr/>
          <p:nvPr/>
        </p:nvSpPr>
        <p:spPr>
          <a:xfrm>
            <a:off x="6858000" y="2743200"/>
            <a:ext cx="3175000" cy="457200"/>
          </a:xfrm>
          <a:prstGeom prst="roundRect">
            <a:avLst>
              <a:gd name="adj" fmla="val 12000"/>
            </a:avLst>
          </a:prstGeom>
          <a:solidFill>
            <a:srgbClr val="F8EDE9"/>
          </a:solidFill>
          <a:ln w="12700">
            <a:solidFill>
              <a:srgbClr val="A64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600">
                <a:solidFill>
                  <a:srgbClr val="1B2A41"/>
                </a:solidFill>
                <a:latin typeface="Calibri" panose="020F0502020204030204" pitchFamily="34" charset="0"/>
              </a:rPr>
              <a:t>Pipeline </a:t>
            </a:r>
            <a:r>
              <a:rPr lang="en-US" sz="1600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1600">
                <a:solidFill>
                  <a:srgbClr val="1B2A41"/>
                </a:solidFill>
                <a:latin typeface="Calibri" panose="020F0502020204030204" pitchFamily="34" charset="0"/>
              </a:rPr>
              <a:t>  or  Pipeline </a:t>
            </a:r>
            <a:r>
              <a:rPr lang="en-US" sz="1600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endParaRPr lang="en-IN" sz="1600" b="1">
              <a:solidFill>
                <a:srgbClr val="3A6676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9BA1F2-F3AB-E7AF-A9D3-6C4FC0E1E977}"/>
              </a:ext>
            </a:extLst>
          </p:cNvPr>
          <p:cNvCxnSpPr/>
          <p:nvPr/>
        </p:nvCxnSpPr>
        <p:spPr>
          <a:xfrm>
            <a:off x="8445500" y="2527300"/>
            <a:ext cx="0" cy="215900"/>
          </a:xfrm>
          <a:prstGeom prst="straightConnector1">
            <a:avLst/>
          </a:prstGeom>
          <a:ln w="15875">
            <a:solidFill>
              <a:srgbClr val="5F5E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04F53D-194A-47AA-CD6C-E7DB2EB2F113}"/>
              </a:ext>
            </a:extLst>
          </p:cNvPr>
          <p:cNvSpPr/>
          <p:nvPr/>
        </p:nvSpPr>
        <p:spPr>
          <a:xfrm>
            <a:off x="6858000" y="3416300"/>
            <a:ext cx="3175000" cy="457200"/>
          </a:xfrm>
          <a:prstGeom prst="roundRect">
            <a:avLst>
              <a:gd name="adj" fmla="val 12000"/>
            </a:avLst>
          </a:prstGeom>
          <a:solidFill>
            <a:srgbClr val="F1F2F4"/>
          </a:solidFill>
          <a:ln w="12700">
            <a:solidFill>
              <a:srgbClr val="8D95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positional inverted 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29513F-677B-2C97-5B3D-5FA87146FADF}"/>
              </a:ext>
            </a:extLst>
          </p:cNvPr>
          <p:cNvCxnSpPr/>
          <p:nvPr/>
        </p:nvCxnSpPr>
        <p:spPr>
          <a:xfrm>
            <a:off x="8445500" y="3200400"/>
            <a:ext cx="0" cy="215900"/>
          </a:xfrm>
          <a:prstGeom prst="straightConnector1">
            <a:avLst/>
          </a:prstGeom>
          <a:ln w="15875">
            <a:solidFill>
              <a:srgbClr val="5F5E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FC1613-9C5C-D771-997E-AFBA475807CA}"/>
              </a:ext>
            </a:extLst>
          </p:cNvPr>
          <p:cNvSpPr/>
          <p:nvPr/>
        </p:nvSpPr>
        <p:spPr>
          <a:xfrm>
            <a:off x="6858000" y="4089400"/>
            <a:ext cx="3175000" cy="457200"/>
          </a:xfrm>
          <a:prstGeom prst="roundRect">
            <a:avLst>
              <a:gd name="adj" fmla="val 12000"/>
            </a:avLst>
          </a:prstGeom>
          <a:solidFill>
            <a:srgbClr val="F1F2F4"/>
          </a:solidFill>
          <a:ln w="12700">
            <a:solidFill>
              <a:srgbClr val="8D95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Boolean search + TF-IDF rank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637AB5-5A3B-16D3-B970-36CA0CE15ACB}"/>
              </a:ext>
            </a:extLst>
          </p:cNvPr>
          <p:cNvCxnSpPr/>
          <p:nvPr/>
        </p:nvCxnSpPr>
        <p:spPr>
          <a:xfrm>
            <a:off x="8445500" y="3873500"/>
            <a:ext cx="0" cy="215900"/>
          </a:xfrm>
          <a:prstGeom prst="straightConnector1">
            <a:avLst/>
          </a:prstGeom>
          <a:ln w="15875">
            <a:solidFill>
              <a:srgbClr val="5F5E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03EA19-6CD0-AAF7-5B44-D0642E94E41B}"/>
              </a:ext>
            </a:extLst>
          </p:cNvPr>
          <p:cNvSpPr/>
          <p:nvPr/>
        </p:nvSpPr>
        <p:spPr>
          <a:xfrm>
            <a:off x="6858000" y="4762500"/>
            <a:ext cx="3175000" cy="457200"/>
          </a:xfrm>
          <a:prstGeom prst="roundRect">
            <a:avLst>
              <a:gd name="adj" fmla="val 12000"/>
            </a:avLst>
          </a:prstGeom>
          <a:solidFill>
            <a:srgbClr val="EEF4F0"/>
          </a:solidFill>
          <a:ln w="12700">
            <a:solidFill>
              <a:srgbClr val="2E6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evaluate vs gold standards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AEF2E4-8459-6A5D-4134-93C4A241DBEE}"/>
              </a:ext>
            </a:extLst>
          </p:cNvPr>
          <p:cNvCxnSpPr/>
          <p:nvPr/>
        </p:nvCxnSpPr>
        <p:spPr>
          <a:xfrm>
            <a:off x="8445500" y="4546600"/>
            <a:ext cx="0" cy="215900"/>
          </a:xfrm>
          <a:prstGeom prst="straightConnector1">
            <a:avLst/>
          </a:prstGeom>
          <a:ln w="15875">
            <a:solidFill>
              <a:srgbClr val="5F5E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9751FD8-9DF5-1675-EF72-D74DB759A444}"/>
              </a:ext>
            </a:extLst>
          </p:cNvPr>
          <p:cNvSpPr txBox="1"/>
          <p:nvPr/>
        </p:nvSpPr>
        <p:spPr>
          <a:xfrm>
            <a:off x="10185400" y="2095500"/>
            <a:ext cx="1524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1375">
                <a:solidFill>
                  <a:srgbClr val="5F5E59"/>
                </a:solidFill>
                <a:latin typeface="Calibri" panose="020F0502020204030204" pitchFamily="34" charset="0"/>
              </a:rPr>
              <a:t>lexicon of 128 domain names</a:t>
            </a:r>
            <a:endParaRPr lang="en-IN" sz="1375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4C68CC-D4F8-F38C-08BA-29463BC65440}"/>
              </a:ext>
            </a:extLst>
          </p:cNvPr>
          <p:cNvSpPr txBox="1"/>
          <p:nvPr/>
        </p:nvSpPr>
        <p:spPr>
          <a:xfrm>
            <a:off x="10185400" y="4114800"/>
            <a:ext cx="1524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1375">
                <a:solidFill>
                  <a:srgbClr val="5F5E59"/>
                </a:solidFill>
                <a:latin typeface="Calibri" panose="020F0502020204030204" pitchFamily="34" charset="0"/>
              </a:rPr>
              <a:t>query goes through the same pipeline</a:t>
            </a:r>
            <a:endParaRPr lang="en-IN" sz="1375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57D926-0DB1-9947-7A2C-B090B54CF123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80E001-ECAC-FD14-B5BB-2D72B1324254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The Problem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DD1867-41D2-E130-B7B1-AC23E1B65035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2 / 26</a:t>
            </a:r>
          </a:p>
        </p:txBody>
      </p:sp>
    </p:spTree>
    <p:extLst>
      <p:ext uri="{BB962C8B-B14F-4D97-AF65-F5344CB8AC3E}">
        <p14:creationId xmlns:p14="http://schemas.microsoft.com/office/powerpoint/2010/main" val="1085994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60E38-B8F6-AD86-A623-D9E03297CC30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2800" b="1">
                <a:solidFill>
                  <a:srgbClr val="1B2A41"/>
                </a:solidFill>
                <a:latin typeface="Calibri" panose="020F0502020204030204" pitchFamily="34" charset="0"/>
              </a:rPr>
              <a:t>Domain and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92FFA-3915-1A49-29FB-E6E7E8BDD8F9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Why video games, and where the documents come from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66B609-4862-4013-FCDD-1766E3934C26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D6E2BC1-8127-442C-BD61-39D0178A650C}"/>
              </a:ext>
            </a:extLst>
          </p:cNvPr>
          <p:cNvSpPr txBox="1"/>
          <p:nvPr/>
        </p:nvSpPr>
        <p:spPr>
          <a:xfrm>
            <a:off x="508000" y="1371600"/>
            <a:ext cx="5588000" cy="3492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2125" b="1">
                <a:solidFill>
                  <a:srgbClr val="1B2A41"/>
                </a:solidFill>
                <a:latin typeface="Calibri" panose="020F0502020204030204" pitchFamily="34" charset="0"/>
              </a:rPr>
              <a:t>Hard for generic NLP tools</a:t>
            </a:r>
            <a:endParaRPr lang="en-IN" sz="2125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50B3B-39EE-2052-2AFC-2126210101C0}"/>
              </a:ext>
            </a:extLst>
          </p:cNvPr>
          <p:cNvSpPr txBox="1"/>
          <p:nvPr/>
        </p:nvSpPr>
        <p:spPr>
          <a:xfrm>
            <a:off x="508000" y="1771650"/>
            <a:ext cx="55880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hyphens and numbers in names: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Counter-Strike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Destiny 2</a:t>
            </a:r>
          </a:p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names made of everyday words: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Tomb Raider</a:t>
            </a:r>
          </a:p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spelling variants: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Game Boy / Gameboy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SNES</a:t>
            </a:r>
            <a:endParaRPr lang="en-IN" sz="2125" i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415FB8-A772-451F-6A20-40E58C32A52D}"/>
              </a:ext>
            </a:extLst>
          </p:cNvPr>
          <p:cNvSpPr txBox="1"/>
          <p:nvPr/>
        </p:nvSpPr>
        <p:spPr>
          <a:xfrm>
            <a:off x="508000" y="3422650"/>
            <a:ext cx="5588000" cy="3492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IN" sz="2125" b="1">
                <a:solidFill>
                  <a:srgbClr val="1B2A41"/>
                </a:solidFill>
                <a:latin typeface="Calibri" panose="020F0502020204030204" pitchFamily="34" charset="0"/>
              </a:rPr>
              <a:t>Corpus from MIRACL</a:t>
            </a:r>
            <a:r>
              <a:rPr lang="en-IN" sz="2125">
                <a:solidFill>
                  <a:srgbClr val="1B2A41"/>
                </a:solidFill>
                <a:latin typeface="Calibri" panose="020F0502020204030204" pitchFamily="34" charset="0"/>
              </a:rPr>
              <a:t> (Zhang et al. 2023)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99B06-7CCD-7DE7-FD46-A311C0A943F5}"/>
              </a:ext>
            </a:extLst>
          </p:cNvPr>
          <p:cNvSpPr txBox="1"/>
          <p:nvPr/>
        </p:nvSpPr>
        <p:spPr>
          <a:xfrm>
            <a:off x="508000" y="3822700"/>
            <a:ext cx="5588000" cy="10731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12 real questions; their judged articles: relevant + </a:t>
            </a:r>
            <a:r>
              <a:rPr lang="en-US" sz="2125">
                <a:solidFill>
                  <a:srgbClr val="1D4ED8"/>
                </a:solidFill>
                <a:latin typeface="Calibri" panose="020F0502020204030204" pitchFamily="34" charset="0"/>
              </a:rPr>
              <a:t>hard negatives</a:t>
            </a:r>
          </a:p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full Wikipedia articles, </a:t>
            </a:r>
            <a:r>
              <a:rPr lang="en-US" sz="2125" b="1">
                <a:solidFill>
                  <a:srgbClr val="1B2A41"/>
                </a:solidFill>
                <a:latin typeface="Calibri" panose="020F0502020204030204" pitchFamily="34" charset="0"/>
              </a:rPr>
              <a:t>D01–D53</a:t>
            </a:r>
            <a:endParaRPr lang="en-IN" sz="2125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C03A732-C88E-DC15-C68E-956DDCD5D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013991"/>
              </p:ext>
            </p:extLst>
          </p:nvPr>
        </p:nvGraphicFramePr>
        <p:xfrm>
          <a:off x="6731000" y="1397000"/>
          <a:ext cx="4953000" cy="88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19450">
                  <a:extLst>
                    <a:ext uri="{9D8B030D-6E8A-4147-A177-3AD203B41FA5}">
                      <a16:colId xmlns:a16="http://schemas.microsoft.com/office/drawing/2014/main" val="286109880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1372618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Corpus statistic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895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Documents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33719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Sentences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9,305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2326632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Tokens (hybrid)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251,482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1006281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Characters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1,362,150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415285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Vocabulary (case-folded)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16,030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803596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Avg. length (tokens)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4,744.9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8703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B7D46B3-46F5-ACC9-D01F-646144565941}"/>
              </a:ext>
            </a:extLst>
          </p:cNvPr>
          <p:cNvSpPr txBox="1"/>
          <p:nvPr/>
        </p:nvSpPr>
        <p:spPr>
          <a:xfrm>
            <a:off x="6731000" y="424815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IN" sz="1250">
                <a:solidFill>
                  <a:srgbClr val="5F5E59"/>
                </a:solidFill>
                <a:latin typeface="Consolas" panose="020B0609020204030204" pitchFamily="49" charset="0"/>
              </a:rPr>
              <a:t>corpus_summary.csv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C526DD-81BB-2DAC-A3AD-5322E90F0708}"/>
              </a:ext>
            </a:extLst>
          </p:cNvPr>
          <p:cNvSpPr txBox="1"/>
          <p:nvPr/>
        </p:nvSpPr>
        <p:spPr>
          <a:xfrm>
            <a:off x="6731000" y="4641850"/>
            <a:ext cx="4953000" cy="7683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1625">
                <a:solidFill>
                  <a:srgbClr val="5F5E59"/>
                </a:solidFill>
                <a:latin typeface="Calibri" panose="020F0502020204030204" pitchFamily="34" charset="0"/>
              </a:rPr>
              <a:t>53 &gt; 15–30 recommended: each question needs several relevant documents and some hard negatives, or precision and recall are meaningless.</a:t>
            </a:r>
            <a:endParaRPr lang="en-IN" sz="1625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7F2E9D-818E-E47F-27DE-066284CC8892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42D657-768F-0568-47DF-DD60A61477BD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The Problem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7343B2-3414-E0D3-7469-AAAFF5BC2056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3 / 26</a:t>
            </a:r>
          </a:p>
        </p:txBody>
      </p:sp>
    </p:spTree>
    <p:extLst>
      <p:ext uri="{BB962C8B-B14F-4D97-AF65-F5344CB8AC3E}">
        <p14:creationId xmlns:p14="http://schemas.microsoft.com/office/powerpoint/2010/main" val="190376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4B9B4F-6013-BEB6-482A-955FA3B888EA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2800" b="1">
                <a:solidFill>
                  <a:srgbClr val="1B2A41"/>
                </a:solidFill>
                <a:latin typeface="Calibri" panose="020F0502020204030204" pitchFamily="34" charset="0"/>
              </a:rPr>
              <a:t>Gold standards: an answer key for every stage</a:t>
            </a:r>
            <a:endParaRPr lang="en-IN" sz="28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E29892-EDAD-28E3-7900-9615DEEC500E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F6014B-8504-543C-5106-4BC0937B9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747970"/>
              </p:ext>
            </p:extLst>
          </p:nvPr>
        </p:nvGraphicFramePr>
        <p:xfrm>
          <a:off x="508000" y="1346200"/>
          <a:ext cx="111760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2240">
                  <a:extLst>
                    <a:ext uri="{9D8B030D-6E8A-4147-A177-3AD203B41FA5}">
                      <a16:colId xmlns:a16="http://schemas.microsoft.com/office/drawing/2014/main" val="3071800556"/>
                    </a:ext>
                  </a:extLst>
                </a:gridCol>
                <a:gridCol w="5811520">
                  <a:extLst>
                    <a:ext uri="{9D8B030D-6E8A-4147-A177-3AD203B41FA5}">
                      <a16:colId xmlns:a16="http://schemas.microsoft.com/office/drawing/2014/main" val="2654203234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695273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Gold standard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Contents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Evaluates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294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Relevance judgments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12 questions × 53 documents = 636 labels (57 relevant)</a:t>
                      </a:r>
                      <a:endParaRPr lang="en-IN" sz="1875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searcher, ranker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90556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POS gold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226 tokens, 8 corpus sentences, Penn Treebank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5 POS taggers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1132671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NER gold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51 entities, 7 types (PERSON … EVENT)</a:t>
                      </a:r>
                      <a:endParaRPr lang="en-IN" sz="1875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2 entity recognisers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157879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Domain lexicon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128 names that must survive as one term</a:t>
                      </a:r>
                      <a:endParaRPr lang="en-IN" sz="1875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tokenizers, pipelines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729724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Stemming groups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word families + a trap: </a:t>
                      </a:r>
                      <a:r>
                        <a:rPr lang="en-US" sz="1875" b="0" i="1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universe</a:t>
                      </a:r>
                      <a:r>
                        <a:rPr lang="en-US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 vs </a:t>
                      </a:r>
                      <a:r>
                        <a:rPr lang="en-US" sz="1875" b="0" i="1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university</a:t>
                      </a:r>
                      <a:endParaRPr lang="en-IN" sz="1875" b="0" i="1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stemmers, lemmatizers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5916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632EA21-7DF1-B217-2282-77585FC9034F}"/>
              </a:ext>
            </a:extLst>
          </p:cNvPr>
          <p:cNvSpPr/>
          <p:nvPr/>
        </p:nvSpPr>
        <p:spPr>
          <a:xfrm>
            <a:off x="508000" y="4025900"/>
            <a:ext cx="11176000" cy="381000"/>
          </a:xfrm>
          <a:prstGeom prst="rect">
            <a:avLst/>
          </a:prstGeom>
          <a:solidFill>
            <a:srgbClr val="1B2A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r>
              <a:rPr lang="en-IN" sz="1975" b="1">
                <a:solidFill>
                  <a:srgbClr val="FFFFFF"/>
                </a:solidFill>
                <a:latin typeface="Calibri" panose="020F0502020204030204" pitchFamily="34" charset="0"/>
              </a:rPr>
              <a:t>Process discipline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50B273-01A2-E278-BE9D-269B8A7E3B01}"/>
              </a:ext>
            </a:extLst>
          </p:cNvPr>
          <p:cNvSpPr/>
          <p:nvPr/>
        </p:nvSpPr>
        <p:spPr>
          <a:xfrm>
            <a:off x="508000" y="4406900"/>
            <a:ext cx="11176000" cy="1060450"/>
          </a:xfrm>
          <a:prstGeom prst="rect">
            <a:avLst/>
          </a:prstGeom>
          <a:solidFill>
            <a:srgbClr val="F1F2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t"/>
          <a:lstStyle/>
          <a:p>
            <a:pPr>
              <a:spcAft>
                <a:spcPts val="400"/>
              </a:spcAft>
            </a:pPr>
            <a:r>
              <a:rPr lang="en-US" sz="1875">
                <a:solidFill>
                  <a:srgbClr val="1B2A41"/>
                </a:solidFill>
                <a:latin typeface="Calibri" panose="020F0502020204030204" pitchFamily="34" charset="0"/>
              </a:rPr>
              <a:t>Hypotheses, metrics and the selection rule were </a:t>
            </a:r>
            <a:r>
              <a:rPr lang="en-US" sz="1875">
                <a:solidFill>
                  <a:srgbClr val="1D4ED8"/>
                </a:solidFill>
                <a:latin typeface="Calibri" panose="020F0502020204030204" pitchFamily="34" charset="0"/>
              </a:rPr>
              <a:t>preregistered before any result</a:t>
            </a:r>
            <a:r>
              <a:rPr lang="en-US" sz="1875">
                <a:solidFill>
                  <a:srgbClr val="1B2A41"/>
                </a:solidFill>
                <a:latin typeface="Calibri" panose="020F0502020204030204" pitchFamily="34" charset="0"/>
              </a:rPr>
              <a:t>; every later change is a dated amendment in the decision log. Relevance labels: two reviewers under a written protocol, so search results are labelled </a:t>
            </a:r>
            <a:r>
              <a:rPr lang="en-US" sz="1875" i="1">
                <a:solidFill>
                  <a:srgbClr val="1B2A41"/>
                </a:solidFill>
                <a:latin typeface="Calibri" panose="020F0502020204030204" pitchFamily="34" charset="0"/>
              </a:rPr>
              <a:t>preliminary</a:t>
            </a:r>
            <a:r>
              <a:rPr lang="en-US" sz="1875">
                <a:solidFill>
                  <a:srgbClr val="1B2A41"/>
                </a:solidFill>
                <a:latin typeface="Calibri" panose="020F0502020204030204" pitchFamily="34" charset="0"/>
              </a:rPr>
              <a:t>.</a:t>
            </a:r>
            <a:endParaRPr lang="en-IN" sz="187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AF5E4-3A1E-DBD1-0ACE-5FF59F4E3E46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4D5118-9A4C-0EE7-E7F9-63A9E9368E0C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The 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B588F5-F21E-876F-D80D-644AD4D842F7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4 / 26</a:t>
            </a:r>
          </a:p>
        </p:txBody>
      </p:sp>
    </p:spTree>
    <p:extLst>
      <p:ext uri="{BB962C8B-B14F-4D97-AF65-F5344CB8AC3E}">
        <p14:creationId xmlns:p14="http://schemas.microsoft.com/office/powerpoint/2010/main" val="4061640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C504D5-156D-4A32-9F2E-C559976256EC}"/>
              </a:ext>
            </a:extLst>
          </p:cNvPr>
          <p:cNvSpPr txBox="1"/>
          <p:nvPr/>
        </p:nvSpPr>
        <p:spPr>
          <a:xfrm>
            <a:off x="508000" y="27940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sz="2800" b="1">
                <a:solidFill>
                  <a:srgbClr val="A64B2C"/>
                </a:solidFill>
                <a:latin typeface="Calibri" panose="020F0502020204030204" pitchFamily="34" charset="0"/>
              </a:rPr>
              <a:t>Select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Order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Implement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Compare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Evaluate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Justify</a:t>
            </a:r>
            <a:endParaRPr lang="en-IN" sz="2800" b="1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11C85-2432-0B68-0122-BA3099E2821B}"/>
              </a:ext>
            </a:extLst>
          </p:cNvPr>
          <p:cNvSpPr txBox="1"/>
          <p:nvPr/>
        </p:nvSpPr>
        <p:spPr>
          <a:xfrm>
            <a:off x="508000" y="3619500"/>
            <a:ext cx="111760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sz="1900">
                <a:solidFill>
                  <a:srgbClr val="5F5E59"/>
                </a:solidFill>
                <a:latin typeface="Calibri" panose="020F0502020204030204" pitchFamily="34" charset="0"/>
              </a:rPr>
              <a:t>Choose each component by measuring it on the corpus</a:t>
            </a:r>
            <a:endParaRPr lang="en-IN" sz="19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256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041AB-9F74-272A-FE3A-A5EE5E1D2688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2800" b="1">
                <a:solidFill>
                  <a:srgbClr val="1B2A41"/>
                </a:solidFill>
                <a:latin typeface="Calibri" panose="020F0502020204030204" pitchFamily="34" charset="0"/>
              </a:rPr>
              <a:t>Tokenization: where does a word end?</a:t>
            </a:r>
            <a:endParaRPr lang="en-IN" sz="28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82616-683C-A807-C041-F24C14A248C5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The single most important choice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7A4B0C-E4B8-48BA-DDC2-5086C5A2D345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1B4C0A-B994-94D2-ECC7-CC70C805F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868593"/>
              </p:ext>
            </p:extLst>
          </p:nvPr>
        </p:nvGraphicFramePr>
        <p:xfrm>
          <a:off x="508000" y="1371600"/>
          <a:ext cx="6096000" cy="63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2640">
                  <a:extLst>
                    <a:ext uri="{9D8B030D-6E8A-4147-A177-3AD203B41FA5}">
                      <a16:colId xmlns:a16="http://schemas.microsoft.com/office/drawing/2014/main" val="466606944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1411586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353880672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80721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Tokenizer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Tokens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Term dict.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Names kept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69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NLTK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253,416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16,619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 / 91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68539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spaCy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261,849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15,745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 / 91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452328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Custom (regex)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252,750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16,664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 / 91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176438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Hybrid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251,482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16,030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D4ED8"/>
                          </a:solidFill>
                          <a:latin typeface="Calibri" panose="020F0502020204030204" pitchFamily="34" charset="0"/>
                        </a:rPr>
                        <a:t>91 / 91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8139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90F3F4F-9773-49F5-EA21-A6DA6EF2D702}"/>
              </a:ext>
            </a:extLst>
          </p:cNvPr>
          <p:cNvSpPr txBox="1"/>
          <p:nvPr/>
        </p:nvSpPr>
        <p:spPr>
          <a:xfrm>
            <a:off x="508000" y="3422650"/>
            <a:ext cx="6096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US" sz="1250">
                <a:solidFill>
                  <a:srgbClr val="5F5E59"/>
                </a:solidFill>
                <a:latin typeface="Consolas" panose="020B0609020204030204" pitchFamily="49" charset="0"/>
              </a:rPr>
              <a:t>tokenization_comparison.csv</a:t>
            </a:r>
            <a:r>
              <a:rPr lang="en-US" sz="1250">
                <a:solidFill>
                  <a:srgbClr val="5F5E59"/>
                </a:solidFill>
                <a:latin typeface="Calibri" panose="020F0502020204030204" pitchFamily="34" charset="0"/>
              </a:rPr>
              <a:t>, </a:t>
            </a:r>
            <a:r>
              <a:rPr lang="en-US" sz="1250">
                <a:solidFill>
                  <a:srgbClr val="5F5E59"/>
                </a:solidFill>
                <a:latin typeface="Consolas" panose="020B0609020204030204" pitchFamily="49" charset="0"/>
              </a:rPr>
              <a:t>tokenizer_domain_terms.csv</a:t>
            </a:r>
            <a:endParaRPr lang="en-IN" sz="1250">
              <a:solidFill>
                <a:srgbClr val="5F5E59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49C854-6443-38B8-95F2-B1BBC4A68D94}"/>
              </a:ext>
            </a:extLst>
          </p:cNvPr>
          <p:cNvSpPr txBox="1"/>
          <p:nvPr/>
        </p:nvSpPr>
        <p:spPr>
          <a:xfrm>
            <a:off x="508000" y="3816350"/>
            <a:ext cx="6096000" cy="8191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75"/>
              </a:spcAft>
            </a:pPr>
            <a:r>
              <a:rPr lang="en-US" sz="1625">
                <a:solidFill>
                  <a:srgbClr val="1B2A41"/>
                </a:solidFill>
                <a:latin typeface="Consolas" panose="020B0609020204030204" pitchFamily="49" charset="0"/>
              </a:rPr>
              <a:t>Counter-Strike: Global Offensive</a:t>
            </a:r>
          </a:p>
          <a:p>
            <a:r>
              <a:rPr lang="en-US" sz="1625">
                <a:solidFill>
                  <a:srgbClr val="5F5E59"/>
                </a:solidFill>
                <a:latin typeface="Calibri" panose="020F0502020204030204" pitchFamily="34" charset="0"/>
              </a:rPr>
              <a:t>spaCy:</a:t>
            </a:r>
            <a:r>
              <a:rPr lang="en-US" sz="1625">
                <a:solidFill>
                  <a:srgbClr val="1B2A41"/>
                </a:solidFill>
                <a:latin typeface="Calibri" panose="020F0502020204030204" pitchFamily="34" charset="0"/>
              </a:rPr>
              <a:t>  </a:t>
            </a:r>
            <a:r>
              <a:rPr lang="en-US" sz="1625">
                <a:solidFill>
                  <a:srgbClr val="1B2A41"/>
                </a:solidFill>
                <a:latin typeface="Consolas" panose="020B0609020204030204" pitchFamily="49" charset="0"/>
              </a:rPr>
              <a:t>Counter | - | Strike | : | Global | Offensive</a:t>
            </a:r>
          </a:p>
          <a:p>
            <a:r>
              <a:rPr lang="en-US" sz="1625">
                <a:solidFill>
                  <a:srgbClr val="5F5E59"/>
                </a:solidFill>
                <a:latin typeface="Calibri" panose="020F0502020204030204" pitchFamily="34" charset="0"/>
              </a:rPr>
              <a:t>hybrid:</a:t>
            </a:r>
            <a:r>
              <a:rPr lang="en-US" sz="1625">
                <a:solidFill>
                  <a:srgbClr val="1B2A41"/>
                </a:solidFill>
                <a:latin typeface="Calibri" panose="020F0502020204030204" pitchFamily="34" charset="0"/>
              </a:rPr>
              <a:t> </a:t>
            </a:r>
            <a:r>
              <a:rPr lang="en-US" sz="1625">
                <a:solidFill>
                  <a:srgbClr val="1B2A41"/>
                </a:solidFill>
                <a:latin typeface="Consolas" panose="020B0609020204030204" pitchFamily="49" charset="0"/>
              </a:rPr>
              <a:t>Counter-Strike_Global_Offensive</a:t>
            </a:r>
            <a:endParaRPr lang="en-IN" sz="1625">
              <a:solidFill>
                <a:srgbClr val="1B2A4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347CB9-CD4B-AF22-F21A-4F6A47C57913}"/>
              </a:ext>
            </a:extLst>
          </p:cNvPr>
          <p:cNvSpPr txBox="1"/>
          <p:nvPr/>
        </p:nvSpPr>
        <p:spPr>
          <a:xfrm>
            <a:off x="7048500" y="1371600"/>
            <a:ext cx="46355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2125" b="1">
                <a:solidFill>
                  <a:srgbClr val="1B2A41"/>
                </a:solidFill>
                <a:latin typeface="Calibri" panose="020F0502020204030204" pitchFamily="34" charset="0"/>
              </a:rPr>
              <a:t>Hybrid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= custom regex rules + three domain steps:</a:t>
            </a:r>
            <a:endParaRPr lang="en-IN" sz="212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7D05C-486D-3C6C-258B-BC9FAC68ADED}"/>
              </a:ext>
            </a:extLst>
          </p:cNvPr>
          <p:cNvSpPr txBox="1"/>
          <p:nvPr/>
        </p:nvSpPr>
        <p:spPr>
          <a:xfrm>
            <a:off x="7048500" y="2095500"/>
            <a:ext cx="4635500" cy="2120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625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rewrite variants (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Gameboy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→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Game Boy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)</a:t>
            </a:r>
          </a:p>
          <a:p>
            <a:pPr marL="457200" indent="-457200">
              <a:spcAft>
                <a:spcPts val="625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split lower-case compounds (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first-person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)</a:t>
            </a:r>
          </a:p>
          <a:p>
            <a:pPr marL="457200" indent="-457200">
              <a:spcAft>
                <a:spcPts val="625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merge lexicon names, longest first (</a:t>
            </a:r>
            <a:r>
              <a:rPr lang="en-US" sz="2125">
                <a:solidFill>
                  <a:srgbClr val="1B2A41"/>
                </a:solidFill>
                <a:latin typeface="Consolas" panose="020B0609020204030204" pitchFamily="49" charset="0"/>
              </a:rPr>
              <a:t>Game_Boy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)</a:t>
            </a:r>
            <a:endParaRPr lang="en-IN" sz="212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B6850F-7917-1222-5965-BD1B6CA1BF70}"/>
              </a:ext>
            </a:extLst>
          </p:cNvPr>
          <p:cNvSpPr txBox="1"/>
          <p:nvPr/>
        </p:nvSpPr>
        <p:spPr>
          <a:xfrm>
            <a:off x="7048500" y="4343400"/>
            <a:ext cx="46355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Custom rules keep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$8.5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U.S.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PS4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1990s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whole.</a:t>
            </a:r>
            <a:endParaRPr lang="en-IN" sz="212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1B772E-263B-552B-2B84-BCCA041D9BB4}"/>
              </a:ext>
            </a:extLst>
          </p:cNvPr>
          <p:cNvSpPr txBox="1"/>
          <p:nvPr/>
        </p:nvSpPr>
        <p:spPr>
          <a:xfrm>
            <a:off x="7048500" y="5143500"/>
            <a:ext cx="46355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2125">
                <a:solidFill>
                  <a:srgbClr val="1D4ED8"/>
                </a:solidFill>
                <a:latin typeface="Calibri" panose="020F0502020204030204" pitchFamily="34" charset="0"/>
              </a:rPr>
              <a:t>Chosen for both pipelines.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Limit: only names in the lexicon are protected.</a:t>
            </a:r>
            <a:endParaRPr lang="en-IN" sz="212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FED5A2-C829-46D7-AD95-D583821CA1AA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10DF6E-A118-04A8-1CF6-C955D89A1CA7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Select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6C7C7D-C333-B5CC-6645-071F51E8ADC7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5 / 26</a:t>
            </a:r>
          </a:p>
        </p:txBody>
      </p:sp>
    </p:spTree>
    <p:extLst>
      <p:ext uri="{BB962C8B-B14F-4D97-AF65-F5344CB8AC3E}">
        <p14:creationId xmlns:p14="http://schemas.microsoft.com/office/powerpoint/2010/main" val="3983005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71CF96-566A-15BB-9217-46803C09B00D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2800" b="1">
                <a:solidFill>
                  <a:srgbClr val="1B2A41"/>
                </a:solidFill>
                <a:latin typeface="Calibri" panose="020F0502020204030204" pitchFamily="34" charset="0"/>
              </a:rPr>
              <a:t>Subword tokenization (BPE)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B35057-2D79-EE49-5022-4C6F71476F91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Useful for vocabulary control, wrong for an index of names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66E99-7890-951A-CDA6-BAA28131C80B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086C27-1F15-5A36-26D6-E3698BAAE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811787"/>
              </p:ext>
            </p:extLst>
          </p:nvPr>
        </p:nvGraphicFramePr>
        <p:xfrm>
          <a:off x="508000" y="1371600"/>
          <a:ext cx="5334000" cy="5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3680">
                  <a:extLst>
                    <a:ext uri="{9D8B030D-6E8A-4147-A177-3AD203B41FA5}">
                      <a16:colId xmlns:a16="http://schemas.microsoft.com/office/drawing/2014/main" val="833541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62097417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660066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Method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Tokens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Vocabulary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992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Hybrid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251,482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18,192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22024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GPT-2 BPE (tiktoken)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284,579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18,127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256306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Corpus BPE (1,000 merges)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423,824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D4ED8"/>
                          </a:solidFill>
                          <a:latin typeface="Calibri" panose="020F0502020204030204" pitchFamily="34" charset="0"/>
                        </a:rPr>
                        <a:t>3,242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0638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B129E7C-3D30-2B91-E43B-A08DBED167F3}"/>
              </a:ext>
            </a:extLst>
          </p:cNvPr>
          <p:cNvSpPr txBox="1"/>
          <p:nvPr/>
        </p:nvSpPr>
        <p:spPr>
          <a:xfrm>
            <a:off x="508000" y="2946400"/>
            <a:ext cx="5334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IN" sz="1250">
                <a:solidFill>
                  <a:srgbClr val="5F5E59"/>
                </a:solidFill>
                <a:latin typeface="Consolas" panose="020B0609020204030204" pitchFamily="49" charset="0"/>
              </a:rPr>
              <a:t>bpe_vs_tokenizers.csv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6F2996-16E9-96F4-663E-67D868A2B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259470"/>
              </p:ext>
            </p:extLst>
          </p:nvPr>
        </p:nvGraphicFramePr>
        <p:xfrm>
          <a:off x="6350000" y="1371600"/>
          <a:ext cx="5334000" cy="5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75938519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26065905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772624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Word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GPT-2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Corpus BPE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955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nintendo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 | intendo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nintendo&lt;/w&gt;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10318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metroid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met | roid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metroid&lt;/w&gt;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294978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multiplayer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multi | player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multi | player&lt;/w&gt;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2743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670182E-8B0A-2C06-A6D1-B7936CCF1B63}"/>
              </a:ext>
            </a:extLst>
          </p:cNvPr>
          <p:cNvSpPr txBox="1"/>
          <p:nvPr/>
        </p:nvSpPr>
        <p:spPr>
          <a:xfrm>
            <a:off x="6350000" y="2946400"/>
            <a:ext cx="5334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IN" sz="1250">
                <a:solidFill>
                  <a:srgbClr val="5F5E59"/>
                </a:solidFill>
                <a:latin typeface="Consolas" panose="020B0609020204030204" pitchFamily="49" charset="0"/>
              </a:rPr>
              <a:t>bpe_results.csv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739433-E22B-8F6A-BA78-4AA238C2E38D}"/>
              </a:ext>
            </a:extLst>
          </p:cNvPr>
          <p:cNvSpPr txBox="1"/>
          <p:nvPr/>
        </p:nvSpPr>
        <p:spPr>
          <a:xfrm>
            <a:off x="508000" y="3390900"/>
            <a:ext cx="111760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BPE (Sennrich et al. 2016) never meets an unknown word and keeps the vocabulary tiny</a:t>
            </a:r>
          </a:p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But pieces like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met | roid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are not searchable units: users type words and names</a:t>
            </a:r>
          </a:p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Frequent domain words are learned whole by the corpus model, not by GPT-2 → </a:t>
            </a:r>
            <a:r>
              <a:rPr lang="en-US" sz="2125">
                <a:solidFill>
                  <a:srgbClr val="1D4ED8"/>
                </a:solidFill>
                <a:latin typeface="Calibri" panose="020F0502020204030204" pitchFamily="34" charset="0"/>
              </a:rPr>
              <a:t>analysed, not used for the index</a:t>
            </a:r>
            <a:endParaRPr lang="en-IN" sz="2125">
              <a:solidFill>
                <a:srgbClr val="1D4ED8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1F2105-DE4B-A6FF-34D3-1F02788C431D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CA9E3-93A9-A10E-CFA4-702BBD172272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Select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C4C8E0-851D-B005-4A61-2C1B1B39A8F0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6 / 26</a:t>
            </a:r>
          </a:p>
        </p:txBody>
      </p:sp>
    </p:spTree>
    <p:extLst>
      <p:ext uri="{BB962C8B-B14F-4D97-AF65-F5344CB8AC3E}">
        <p14:creationId xmlns:p14="http://schemas.microsoft.com/office/powerpoint/2010/main" val="635006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E0CC0-0309-1C84-7E35-606B8CE16BFA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2800" b="1">
                <a:solidFill>
                  <a:srgbClr val="1B2A41"/>
                </a:solidFill>
                <a:latin typeface="Calibri" panose="020F0502020204030204" pitchFamily="34" charset="0"/>
              </a:rPr>
              <a:t>Stop words, stemming, lemmatization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26899-556C-CC5C-5FDA-AC222DE62B5E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Scored with Paice’s under- and over-stemming indices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94B8716-17D6-ED98-CFB2-07F91CC76EE2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2E533D-6B9E-70AC-4999-4D2D66441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406712"/>
              </p:ext>
            </p:extLst>
          </p:nvPr>
        </p:nvGraphicFramePr>
        <p:xfrm>
          <a:off x="508000" y="1371600"/>
          <a:ext cx="59690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1074687915"/>
                    </a:ext>
                  </a:extLst>
                </a:gridCol>
                <a:gridCol w="1014730">
                  <a:extLst>
                    <a:ext uri="{9D8B030D-6E8A-4147-A177-3AD203B41FA5}">
                      <a16:colId xmlns:a16="http://schemas.microsoft.com/office/drawing/2014/main" val="4076738372"/>
                    </a:ext>
                  </a:extLst>
                </a:gridCol>
                <a:gridCol w="1014730">
                  <a:extLst>
                    <a:ext uri="{9D8B030D-6E8A-4147-A177-3AD203B41FA5}">
                      <a16:colId xmlns:a16="http://schemas.microsoft.com/office/drawing/2014/main" val="45003851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1586900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Method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UI ↓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OI ↓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universe = university?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958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Porter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0.298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0.0087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merged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8247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Snowball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0.298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0.0087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merged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922545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Lancaster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0.0087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merged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32596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WordNet (verb)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0.617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kept apart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4268679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spaCy lemma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0.574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kept apart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7970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8BF9C40-3F98-6FD2-803D-477649F6E5EC}"/>
              </a:ext>
            </a:extLst>
          </p:cNvPr>
          <p:cNvSpPr txBox="1"/>
          <p:nvPr/>
        </p:nvSpPr>
        <p:spPr>
          <a:xfrm>
            <a:off x="508000" y="4108450"/>
            <a:ext cx="5969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nn-NO" sz="1250">
                <a:solidFill>
                  <a:srgbClr val="5F5E59"/>
                </a:solidFill>
                <a:latin typeface="Consolas" panose="020B0609020204030204" pitchFamily="49" charset="0"/>
              </a:rPr>
              <a:t>stemming_lemmatization.csv</a:t>
            </a:r>
            <a:r>
              <a:rPr lang="nn-NO" sz="1250">
                <a:solidFill>
                  <a:srgbClr val="5F5E59"/>
                </a:solidFill>
                <a:latin typeface="Calibri" panose="020F0502020204030204" pitchFamily="34" charset="0"/>
              </a:rPr>
              <a:t> (Paice 1994)</a:t>
            </a:r>
            <a:endParaRPr lang="en-IN" sz="125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3B485-3DF2-E704-FE0E-EE29D3FB363E}"/>
              </a:ext>
            </a:extLst>
          </p:cNvPr>
          <p:cNvSpPr txBox="1"/>
          <p:nvPr/>
        </p:nvSpPr>
        <p:spPr>
          <a:xfrm>
            <a:off x="6858000" y="1371600"/>
            <a:ext cx="4826000" cy="254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every stemmer </a:t>
            </a:r>
            <a:r>
              <a:rPr lang="en-US" sz="2000">
                <a:solidFill>
                  <a:srgbClr val="1D4ED8"/>
                </a:solidFill>
                <a:latin typeface="Calibri" panose="020F0502020204030204" pitchFamily="34" charset="0"/>
              </a:rPr>
              <a:t>over-stems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the trap</a:t>
            </a:r>
          </a:p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lemmatizers never over-merge but need the POS tag (</a:t>
            </a:r>
            <a:r>
              <a:rPr lang="en-US" sz="2000" i="1">
                <a:solidFill>
                  <a:srgbClr val="1B2A41"/>
                </a:solidFill>
                <a:latin typeface="Calibri" panose="020F0502020204030204" pitchFamily="34" charset="0"/>
              </a:rPr>
              <a:t>saw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: noun or verb?)</a:t>
            </a:r>
          </a:p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 b="1">
                <a:solidFill>
                  <a:srgbClr val="1B2A41"/>
                </a:solidFill>
                <a:latin typeface="Calibri" panose="020F0502020204030204" pitchFamily="34" charset="0"/>
              </a:rPr>
              <a:t>Order matters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: Porter </a:t>
            </a:r>
            <a:r>
              <a:rPr lang="en-US" sz="2000" i="1">
                <a:solidFill>
                  <a:srgbClr val="1B2A41"/>
                </a:solidFill>
                <a:latin typeface="Calibri" panose="020F0502020204030204" pitchFamily="34" charset="0"/>
              </a:rPr>
              <a:t>before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stop-word removal leaks </a:t>
            </a:r>
            <a:r>
              <a:rPr lang="en-US" sz="2000">
                <a:solidFill>
                  <a:srgbClr val="1B2A41"/>
                </a:solidFill>
                <a:latin typeface="Consolas" panose="020B0609020204030204" pitchFamily="49" charset="0"/>
              </a:rPr>
              <a:t>thi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2000">
                <a:solidFill>
                  <a:srgbClr val="1B2A41"/>
                </a:solidFill>
                <a:latin typeface="Consolas" panose="020B0609020204030204" pitchFamily="49" charset="0"/>
              </a:rPr>
              <a:t>wa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2000">
                <a:solidFill>
                  <a:srgbClr val="1B2A41"/>
                </a:solidFill>
                <a:latin typeface="Consolas" panose="020B0609020204030204" pitchFamily="49" charset="0"/>
              </a:rPr>
              <a:t>ha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into the index</a:t>
            </a:r>
          </a:p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stop lists: 10 words removes 22.3% of tokens, NLTK’s 198 removes 38.1%</a:t>
            </a:r>
            <a:endParaRPr lang="en-IN" sz="20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D3043-3A22-6A88-6594-3BDF1F6F0508}"/>
              </a:ext>
            </a:extLst>
          </p:cNvPr>
          <p:cNvSpPr txBox="1"/>
          <p:nvPr/>
        </p:nvSpPr>
        <p:spPr>
          <a:xfrm>
            <a:off x="508000" y="452755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1750">
                <a:solidFill>
                  <a:srgbClr val="5F5E59"/>
                </a:solidFill>
                <a:latin typeface="Calibri" panose="020F0502020204030204" pitchFamily="34" charset="0"/>
              </a:rPr>
              <a:t>Choices: </a:t>
            </a:r>
            <a:r>
              <a:rPr lang="en-US" sz="1750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1750">
                <a:solidFill>
                  <a:srgbClr val="5F5E59"/>
                </a:solidFill>
                <a:latin typeface="Calibri" panose="020F0502020204030204" pitchFamily="34" charset="0"/>
              </a:rPr>
              <a:t> uses Snowball (no </a:t>
            </a:r>
            <a:r>
              <a:rPr lang="en-US" sz="1750">
                <a:solidFill>
                  <a:srgbClr val="5F5E59"/>
                </a:solidFill>
                <a:latin typeface="Consolas" panose="020B0609020204030204" pitchFamily="49" charset="0"/>
              </a:rPr>
              <a:t>thi</a:t>
            </a:r>
            <a:r>
              <a:rPr lang="en-US" sz="1750">
                <a:solidFill>
                  <a:srgbClr val="5F5E59"/>
                </a:solidFill>
                <a:latin typeface="Calibri" panose="020F0502020204030204" pitchFamily="34" charset="0"/>
              </a:rPr>
              <a:t>/</a:t>
            </a:r>
            <a:r>
              <a:rPr lang="en-US" sz="1750">
                <a:solidFill>
                  <a:srgbClr val="5F5E59"/>
                </a:solidFill>
                <a:latin typeface="Consolas" panose="020B0609020204030204" pitchFamily="49" charset="0"/>
              </a:rPr>
              <a:t>wa</a:t>
            </a:r>
            <a:r>
              <a:rPr lang="en-US" sz="1750">
                <a:solidFill>
                  <a:srgbClr val="5F5E59"/>
                </a:solidFill>
                <a:latin typeface="Calibri" panose="020F0502020204030204" pitchFamily="34" charset="0"/>
              </a:rPr>
              <a:t> leaks); </a:t>
            </a:r>
            <a:r>
              <a:rPr lang="en-US" sz="1750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1750">
                <a:solidFill>
                  <a:srgbClr val="5F5E59"/>
                </a:solidFill>
                <a:latin typeface="Calibri" panose="020F0502020204030204" pitchFamily="34" charset="0"/>
              </a:rPr>
              <a:t> uses spaCy lemmas in context, never touching proper nouns, numbers or merged names.</a:t>
            </a:r>
            <a:endParaRPr lang="en-IN" sz="175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3AB872-BF42-FA7F-1415-4BE53132430B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E9ADD5-61ED-0DED-FCC9-A2BC3D22DD21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Select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7D42EC-56F7-0B72-2A05-4BA09324C1D5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7 / 26</a:t>
            </a:r>
          </a:p>
        </p:txBody>
      </p:sp>
    </p:spTree>
    <p:extLst>
      <p:ext uri="{BB962C8B-B14F-4D97-AF65-F5344CB8AC3E}">
        <p14:creationId xmlns:p14="http://schemas.microsoft.com/office/powerpoint/2010/main" val="1996245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2B8EC-4C4E-0F0E-1725-A856F95125B7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2800" b="1">
                <a:solidFill>
                  <a:srgbClr val="1B2A41"/>
                </a:solidFill>
                <a:latin typeface="Calibri" panose="020F0502020204030204" pitchFamily="34" charset="0"/>
              </a:rPr>
              <a:t>POS tagging and named entities</a:t>
            </a:r>
            <a:endParaRPr lang="en-IN" sz="28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9F910-BF71-5786-0918-41449605B763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General models do not know the domain; small domain knowledge fixes it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359E57-38D1-9FC4-2D21-EBFF1D2E9C69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E9DA7E-427F-DEA6-F157-4FCD8E2A5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346844"/>
              </p:ext>
            </p:extLst>
          </p:nvPr>
        </p:nvGraphicFramePr>
        <p:xfrm>
          <a:off x="508000" y="1371600"/>
          <a:ext cx="5080000" cy="63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18415442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534531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POS tagger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Accuracy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591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NLTK (default)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98119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spaCy (default)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0.951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1597268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Rules + dictionary</a:t>
                      </a:r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 (custom)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D4ED8"/>
                          </a:solidFill>
                          <a:latin typeface="Calibri" panose="020F0502020204030204" pitchFamily="34" charset="0"/>
                        </a:rPr>
                        <a:t>0.987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602723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KNN (custom, ML)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0.602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4409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767485-CC2E-47D5-10A6-520BB192CE89}"/>
              </a:ext>
            </a:extLst>
          </p:cNvPr>
          <p:cNvSpPr txBox="1"/>
          <p:nvPr/>
        </p:nvSpPr>
        <p:spPr>
          <a:xfrm>
            <a:off x="508000" y="3422650"/>
            <a:ext cx="508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IN" sz="1250">
                <a:solidFill>
                  <a:srgbClr val="5F5E59"/>
                </a:solidFill>
                <a:latin typeface="Calibri" panose="020F0502020204030204" pitchFamily="34" charset="0"/>
              </a:rPr>
              <a:t>226 gold tokens; </a:t>
            </a:r>
            <a:r>
              <a:rPr lang="en-IN" sz="1250">
                <a:solidFill>
                  <a:srgbClr val="5F5E59"/>
                </a:solidFill>
                <a:latin typeface="Consolas" panose="020B0609020204030204" pitchFamily="49" charset="0"/>
              </a:rPr>
              <a:t>pos_tagging_results.csv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C4684E-5EF6-B5BB-B90C-7964B9CE0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132471"/>
              </p:ext>
            </p:extLst>
          </p:nvPr>
        </p:nvGraphicFramePr>
        <p:xfrm>
          <a:off x="6096000" y="1371600"/>
          <a:ext cx="5588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2625756539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736222496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37592666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736568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NER (51 entities)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Correct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Wrong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Missed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046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spaCy default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3529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+ EntityRuler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D4ED8"/>
                          </a:solidFill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93144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0141066-C9C5-8846-28F4-3028E23D651D}"/>
              </a:ext>
            </a:extLst>
          </p:cNvPr>
          <p:cNvSpPr txBox="1"/>
          <p:nvPr/>
        </p:nvSpPr>
        <p:spPr>
          <a:xfrm>
            <a:off x="6096000" y="2622550"/>
            <a:ext cx="5588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IN" sz="1250">
                <a:solidFill>
                  <a:srgbClr val="5F5E59"/>
                </a:solidFill>
                <a:latin typeface="Consolas" panose="020B0609020204030204" pitchFamily="49" charset="0"/>
              </a:rPr>
              <a:t>ner_summary.csv</a:t>
            </a:r>
            <a:r>
              <a:rPr lang="en-IN" sz="1250">
                <a:solidFill>
                  <a:srgbClr val="5F5E59"/>
                </a:solidFill>
                <a:latin typeface="Calibri" panose="020F0502020204030204" pitchFamily="34" charset="0"/>
              </a:rPr>
              <a:t>; mean F1 0.563 → 0.744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40582-36B1-6E6E-7952-557F68AFC8D5}"/>
              </a:ext>
            </a:extLst>
          </p:cNvPr>
          <p:cNvSpPr txBox="1"/>
          <p:nvPr/>
        </p:nvSpPr>
        <p:spPr>
          <a:xfrm>
            <a:off x="508000" y="3867150"/>
            <a:ext cx="11176000" cy="10731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spaCy calls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Prey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Doom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2125" i="1">
                <a:solidFill>
                  <a:srgbClr val="1B2A41"/>
                </a:solidFill>
                <a:latin typeface="Calibri" panose="020F0502020204030204" pitchFamily="34" charset="0"/>
              </a:rPr>
              <a:t>Halo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</a:t>
            </a:r>
            <a:r>
              <a:rPr lang="en-US" sz="2125">
                <a:solidFill>
                  <a:srgbClr val="1D4ED8"/>
                </a:solidFill>
                <a:latin typeface="Calibri" panose="020F0502020204030204" pitchFamily="34" charset="0"/>
              </a:rPr>
              <a:t>PERSON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; the lexicon-driven EntityRuler relabels them PRODUCT</a:t>
            </a:r>
          </a:p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The dictionary tagger improves NLTK by one token: with 226 gold tokens, a gain within noise; KNN is far behind</a:t>
            </a:r>
            <a:endParaRPr lang="en-IN" sz="212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CC3CD5-BBE1-9AA4-1040-2C02CF18648E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93819-89D9-6FC9-54ED-FD0415F545BE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Select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1ABA8-85E9-72DE-3B7F-B9CD69884BC4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8 / 26</a:t>
            </a:r>
          </a:p>
        </p:txBody>
      </p:sp>
    </p:spTree>
    <p:extLst>
      <p:ext uri="{BB962C8B-B14F-4D97-AF65-F5344CB8AC3E}">
        <p14:creationId xmlns:p14="http://schemas.microsoft.com/office/powerpoint/2010/main" val="2377037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EC681E-F721-BC2E-F6FC-D2AD0887688E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2800" b="1">
                <a:solidFill>
                  <a:srgbClr val="1B2A41"/>
                </a:solidFill>
                <a:latin typeface="Calibri" panose="020F0502020204030204" pitchFamily="34" charset="0"/>
              </a:rPr>
              <a:t>N-grams: which word sequences recur?</a:t>
            </a:r>
            <a:endParaRPr lang="en-IN" sz="28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7A0AF-A095-89CA-7469-DE64270CB03A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Counted over each pipeline’s index terms, n = 1 … 5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076B5F-3CFF-B83F-31EE-5E0A4821FCC3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4503DE-21BC-1143-48D8-8C8A11CF9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897696"/>
              </p:ext>
            </p:extLst>
          </p:nvPr>
        </p:nvGraphicFramePr>
        <p:xfrm>
          <a:off x="508000" y="1371600"/>
          <a:ext cx="55880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040">
                  <a:extLst>
                    <a:ext uri="{9D8B030D-6E8A-4147-A177-3AD203B41FA5}">
                      <a16:colId xmlns:a16="http://schemas.microsoft.com/office/drawing/2014/main" val="1990972126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620022437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57416695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57981248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1604111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distinct </a:t>
                      </a:r>
                      <a:r>
                        <a:rPr lang="en-IN" sz="1750" b="1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distinct </a:t>
                      </a:r>
                      <a:r>
                        <a:rPr lang="en-IN" sz="1750" b="1" i="0">
                          <a:solidFill>
                            <a:srgbClr val="3A6676"/>
                          </a:solidFill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meaningful </a:t>
                      </a:r>
                      <a:r>
                        <a:rPr lang="en-IN" sz="1750" b="1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meaningful </a:t>
                      </a:r>
                      <a:r>
                        <a:rPr lang="en-IN" sz="1750" b="1" i="0">
                          <a:solidFill>
                            <a:srgbClr val="3A6676"/>
                          </a:solidFill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439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13,165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11,247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33399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108,872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98,356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092820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159,589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128,736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0.55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2749943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171,416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134,305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0.65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602370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173,966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135,602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0.85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6904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1EFC193-68F3-D3F3-4DF0-F76F4C923550}"/>
              </a:ext>
            </a:extLst>
          </p:cNvPr>
          <p:cNvSpPr txBox="1"/>
          <p:nvPr/>
        </p:nvSpPr>
        <p:spPr>
          <a:xfrm>
            <a:off x="508000" y="3975100"/>
            <a:ext cx="5588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US" sz="1250">
                <a:solidFill>
                  <a:srgbClr val="5F5E59"/>
                </a:solidFill>
                <a:latin typeface="Consolas" panose="020B0609020204030204" pitchFamily="49" charset="0"/>
              </a:rPr>
              <a:t>ngram_summary.csv</a:t>
            </a:r>
            <a:r>
              <a:rPr lang="en-US" sz="1250">
                <a:solidFill>
                  <a:srgbClr val="5F5E59"/>
                </a:solidFill>
                <a:latin typeface="Calibri" panose="020F0502020204030204" pitchFamily="34" charset="0"/>
              </a:rPr>
              <a:t>; meaningful = share of the top 20</a:t>
            </a:r>
            <a:endParaRPr lang="en-IN" sz="125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9FFE1-488B-FDC9-3E55-F48ABD1C9C3D}"/>
              </a:ext>
            </a:extLst>
          </p:cNvPr>
          <p:cNvSpPr txBox="1"/>
          <p:nvPr/>
        </p:nvSpPr>
        <p:spPr>
          <a:xfrm>
            <a:off x="6477000" y="1371600"/>
            <a:ext cx="5207000" cy="284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the dictionary explodes with n: about 99% of 5-grams are distinct, so a phrase needs </a:t>
            </a:r>
            <a:r>
              <a:rPr lang="en-US" sz="2000">
                <a:solidFill>
                  <a:srgbClr val="1D4ED8"/>
                </a:solidFill>
                <a:latin typeface="Calibri" panose="020F0502020204030204" pitchFamily="34" charset="0"/>
              </a:rPr>
              <a:t>count ≥ 2</a:t>
            </a:r>
          </a:p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keeps function words: top bigrams </a:t>
            </a:r>
            <a:r>
              <a:rPr lang="en-US" sz="2000" i="1">
                <a:solidFill>
                  <a:srgbClr val="1B2A41"/>
                </a:solidFill>
                <a:latin typeface="Calibri" panose="020F0502020204030204" pitchFamily="34" charset="0"/>
              </a:rPr>
              <a:t>it be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2000" i="1">
                <a:solidFill>
                  <a:srgbClr val="1B2A41"/>
                </a:solidFill>
                <a:latin typeface="Calibri" panose="020F0502020204030204" pitchFamily="34" charset="0"/>
              </a:rPr>
              <a:t>be release</a:t>
            </a:r>
          </a:p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removed them: </a:t>
            </a:r>
            <a:r>
              <a:rPr lang="en-US" sz="2000" i="1">
                <a:solidFill>
                  <a:srgbClr val="1B2A41"/>
                </a:solidFill>
                <a:latin typeface="Calibri" panose="020F0502020204030204" pitchFamily="34" charset="0"/>
              </a:rPr>
              <a:t>lara croft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2000" i="1">
                <a:solidFill>
                  <a:srgbClr val="1B2A41"/>
                </a:solidFill>
                <a:latin typeface="Calibri" panose="020F0502020204030204" pitchFamily="34" charset="0"/>
              </a:rPr>
              <a:t>smash bros</a:t>
            </a:r>
          </a:p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top bigram in both: </a:t>
            </a:r>
            <a:r>
              <a:rPr lang="en-US" sz="2000" i="1">
                <a:solidFill>
                  <a:srgbClr val="1B2A41"/>
                </a:solidFill>
                <a:latin typeface="Calibri" panose="020F0502020204030204" pitchFamily="34" charset="0"/>
              </a:rPr>
              <a:t>video game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(</a:t>
            </a:r>
            <a:r>
              <a:rPr lang="en-US" sz="2000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516, </a:t>
            </a:r>
            <a:r>
              <a:rPr lang="en-US" sz="2000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536)</a:t>
            </a:r>
            <a:endParaRPr lang="en-IN" sz="20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9A3F02-7E75-03BA-52C1-193A9A054679}"/>
              </a:ext>
            </a:extLst>
          </p:cNvPr>
          <p:cNvSpPr txBox="1"/>
          <p:nvPr/>
        </p:nvSpPr>
        <p:spPr>
          <a:xfrm>
            <a:off x="508000" y="44196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1750">
                <a:solidFill>
                  <a:srgbClr val="5F5E59"/>
                </a:solidFill>
                <a:latin typeface="Calibri" panose="020F0502020204030204" pitchFamily="34" charset="0"/>
              </a:rPr>
              <a:t>Meaningful = occurs ≥ 2, no stop word or bare number at either edge, contains a letter. Frequent unmerged phrases are candidates for the lexicon.</a:t>
            </a:r>
            <a:endParaRPr lang="en-IN" sz="175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D4AFB0-1545-56F7-879C-79F73410D9BF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2B675C-5886-F0D9-272B-F2BEAC8F1B6D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Select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0DCD8B-4550-2FBE-6E02-54479AD5FFF5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9 / 26</a:t>
            </a:r>
          </a:p>
        </p:txBody>
      </p:sp>
    </p:spTree>
    <p:extLst>
      <p:ext uri="{BB962C8B-B14F-4D97-AF65-F5344CB8AC3E}">
        <p14:creationId xmlns:p14="http://schemas.microsoft.com/office/powerpoint/2010/main" val="2957004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BD4FF4-F5F6-2FF1-6774-4915EB952359}"/>
              </a:ext>
            </a:extLst>
          </p:cNvPr>
          <p:cNvSpPr txBox="1"/>
          <p:nvPr/>
        </p:nvSpPr>
        <p:spPr>
          <a:xfrm>
            <a:off x="508000" y="27940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Select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A64B2C"/>
                </a:solidFill>
                <a:latin typeface="Calibri" panose="020F0502020204030204" pitchFamily="34" charset="0"/>
              </a:rPr>
              <a:t>Order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Implement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Compare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Evaluate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Justify</a:t>
            </a:r>
            <a:endParaRPr lang="en-IN" sz="2800" b="1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53B602-A945-C147-1127-1CA3D0D27E83}"/>
              </a:ext>
            </a:extLst>
          </p:cNvPr>
          <p:cNvSpPr txBox="1"/>
          <p:nvPr/>
        </p:nvSpPr>
        <p:spPr>
          <a:xfrm>
            <a:off x="508000" y="3619500"/>
            <a:ext cx="111760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sz="1900">
                <a:solidFill>
                  <a:srgbClr val="5F5E59"/>
                </a:solidFill>
                <a:latin typeface="Calibri" panose="020F0502020204030204" pitchFamily="34" charset="0"/>
              </a:rPr>
              <a:t>Combine the same components in two orders that make opposite bets</a:t>
            </a:r>
            <a:endParaRPr lang="en-IN" sz="19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659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FB95C7-EC83-F29B-FC99-EAB83EA68889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2800" b="1">
                <a:solidFill>
                  <a:srgbClr val="1B2A41"/>
                </a:solidFill>
                <a:latin typeface="Calibri" panose="020F0502020204030204" pitchFamily="34" charset="0"/>
              </a:rPr>
              <a:t>The two pipelines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2E09C9-7BE9-B7BA-DE35-A0D456CF1512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600">
                <a:solidFill>
                  <a:srgbClr val="5F5E59"/>
                </a:solidFill>
                <a:latin typeface="Calibri" panose="020F0502020204030204" pitchFamily="34" charset="0"/>
              </a:rPr>
              <a:t>Same ingredients, different order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487064-FF8A-7F81-254A-F547A3D89C1F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3F3903-5E5F-DAE2-06B6-FA8031C6852B}"/>
              </a:ext>
            </a:extLst>
          </p:cNvPr>
          <p:cNvSpPr/>
          <p:nvPr/>
        </p:nvSpPr>
        <p:spPr>
          <a:xfrm>
            <a:off x="1143000" y="1422400"/>
            <a:ext cx="1460500" cy="736600"/>
          </a:xfrm>
          <a:prstGeom prst="roundRect">
            <a:avLst>
              <a:gd name="adj" fmla="val 12000"/>
            </a:avLst>
          </a:prstGeom>
          <a:solidFill>
            <a:srgbClr val="F1F2F4"/>
          </a:solidFill>
          <a:ln w="12700">
            <a:solidFill>
              <a:srgbClr val="8D95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hybrid</a:t>
            </a:r>
          </a:p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tokenize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C1DAF6-C4E7-1F63-F2F4-5C0E55CDCC16}"/>
              </a:ext>
            </a:extLst>
          </p:cNvPr>
          <p:cNvSpPr/>
          <p:nvPr/>
        </p:nvSpPr>
        <p:spPr>
          <a:xfrm>
            <a:off x="2933700" y="1422400"/>
            <a:ext cx="2032000" cy="736600"/>
          </a:xfrm>
          <a:prstGeom prst="roundRect">
            <a:avLst>
              <a:gd name="adj" fmla="val 12000"/>
            </a:avLst>
          </a:prstGeom>
          <a:solidFill>
            <a:srgbClr val="F8EDE9"/>
          </a:solidFill>
          <a:ln w="12700">
            <a:solidFill>
              <a:srgbClr val="A64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POS tag</a:t>
            </a:r>
          </a:p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(spaCy, cased)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3BBFDA-FC79-DE36-9B68-7AEF9B9BC8DD}"/>
              </a:ext>
            </a:extLst>
          </p:cNvPr>
          <p:cNvCxnSpPr/>
          <p:nvPr/>
        </p:nvCxnSpPr>
        <p:spPr>
          <a:xfrm>
            <a:off x="2603500" y="1790700"/>
            <a:ext cx="330200" cy="0"/>
          </a:xfrm>
          <a:prstGeom prst="straightConnector1">
            <a:avLst/>
          </a:prstGeom>
          <a:ln w="22225">
            <a:solidFill>
              <a:srgbClr val="A64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CA1720-46F0-1CAE-D4A6-1CC6CC82FA4E}"/>
              </a:ext>
            </a:extLst>
          </p:cNvPr>
          <p:cNvSpPr/>
          <p:nvPr/>
        </p:nvSpPr>
        <p:spPr>
          <a:xfrm>
            <a:off x="5295900" y="1422400"/>
            <a:ext cx="1905000" cy="736600"/>
          </a:xfrm>
          <a:prstGeom prst="roundRect">
            <a:avLst>
              <a:gd name="adj" fmla="val 12000"/>
            </a:avLst>
          </a:prstGeom>
          <a:solidFill>
            <a:srgbClr val="F8EDE9"/>
          </a:solidFill>
          <a:ln w="12700">
            <a:solidFill>
              <a:srgbClr val="A64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lemmatize</a:t>
            </a:r>
          </a:p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(POS-aware)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AA49A5-1132-7B22-4A12-E8643EBE4C53}"/>
              </a:ext>
            </a:extLst>
          </p:cNvPr>
          <p:cNvCxnSpPr/>
          <p:nvPr/>
        </p:nvCxnSpPr>
        <p:spPr>
          <a:xfrm>
            <a:off x="4965700" y="1790700"/>
            <a:ext cx="330200" cy="0"/>
          </a:xfrm>
          <a:prstGeom prst="straightConnector1">
            <a:avLst/>
          </a:prstGeom>
          <a:ln w="22225">
            <a:solidFill>
              <a:srgbClr val="A64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6310B2-EF8E-5BDD-8C56-D6D2DF7CEE4E}"/>
              </a:ext>
            </a:extLst>
          </p:cNvPr>
          <p:cNvSpPr/>
          <p:nvPr/>
        </p:nvSpPr>
        <p:spPr>
          <a:xfrm>
            <a:off x="7531100" y="1422400"/>
            <a:ext cx="1587500" cy="736600"/>
          </a:xfrm>
          <a:prstGeom prst="roundRect">
            <a:avLst>
              <a:gd name="adj" fmla="val 12000"/>
            </a:avLst>
          </a:prstGeom>
          <a:solidFill>
            <a:srgbClr val="F8EDE9"/>
          </a:solidFill>
          <a:ln w="12700">
            <a:solidFill>
              <a:srgbClr val="A64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lowercase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A4E662-9F68-EF25-23EC-B6C1248DB05F}"/>
              </a:ext>
            </a:extLst>
          </p:cNvPr>
          <p:cNvCxnSpPr/>
          <p:nvPr/>
        </p:nvCxnSpPr>
        <p:spPr>
          <a:xfrm>
            <a:off x="7200900" y="1790700"/>
            <a:ext cx="330200" cy="0"/>
          </a:xfrm>
          <a:prstGeom prst="straightConnector1">
            <a:avLst/>
          </a:prstGeom>
          <a:ln w="22225">
            <a:solidFill>
              <a:srgbClr val="A64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3E1D99-063E-ACA9-D982-5593CB01DE6F}"/>
              </a:ext>
            </a:extLst>
          </p:cNvPr>
          <p:cNvSpPr/>
          <p:nvPr/>
        </p:nvSpPr>
        <p:spPr>
          <a:xfrm>
            <a:off x="9448800" y="1422400"/>
            <a:ext cx="1905000" cy="736600"/>
          </a:xfrm>
          <a:prstGeom prst="roundRect">
            <a:avLst>
              <a:gd name="adj" fmla="val 12000"/>
            </a:avLst>
          </a:prstGeom>
          <a:solidFill>
            <a:srgbClr val="F8EDE9"/>
          </a:solidFill>
          <a:ln w="12700">
            <a:solidFill>
              <a:srgbClr val="A64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remove</a:t>
            </a:r>
          </a:p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10 stop words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A45A9F-FFDB-4435-A70D-BD8F95DBAC11}"/>
              </a:ext>
            </a:extLst>
          </p:cNvPr>
          <p:cNvCxnSpPr/>
          <p:nvPr/>
        </p:nvCxnSpPr>
        <p:spPr>
          <a:xfrm>
            <a:off x="9118600" y="1790700"/>
            <a:ext cx="330200" cy="0"/>
          </a:xfrm>
          <a:prstGeom prst="straightConnector1">
            <a:avLst/>
          </a:prstGeom>
          <a:ln w="22225">
            <a:solidFill>
              <a:srgbClr val="A64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1A3245-AD20-EEFE-7B34-DC774DC818D3}"/>
              </a:ext>
            </a:extLst>
          </p:cNvPr>
          <p:cNvSpPr/>
          <p:nvPr/>
        </p:nvSpPr>
        <p:spPr>
          <a:xfrm>
            <a:off x="1143000" y="2540000"/>
            <a:ext cx="1460500" cy="736600"/>
          </a:xfrm>
          <a:prstGeom prst="roundRect">
            <a:avLst>
              <a:gd name="adj" fmla="val 12000"/>
            </a:avLst>
          </a:prstGeom>
          <a:solidFill>
            <a:srgbClr val="F1F2F4"/>
          </a:solidFill>
          <a:ln w="12700">
            <a:solidFill>
              <a:srgbClr val="8D95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hybrid</a:t>
            </a:r>
          </a:p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tokenize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241727B-5FA6-3973-B4A0-69897162C3BF}"/>
              </a:ext>
            </a:extLst>
          </p:cNvPr>
          <p:cNvSpPr/>
          <p:nvPr/>
        </p:nvSpPr>
        <p:spPr>
          <a:xfrm>
            <a:off x="2933700" y="2540000"/>
            <a:ext cx="1587500" cy="736600"/>
          </a:xfrm>
          <a:prstGeom prst="roundRect">
            <a:avLst>
              <a:gd name="adj" fmla="val 12000"/>
            </a:avLst>
          </a:prstGeom>
          <a:solidFill>
            <a:srgbClr val="EBF0F2"/>
          </a:solidFill>
          <a:ln w="12700">
            <a:solidFill>
              <a:srgbClr val="3A6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lowercase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A1A475-00B5-3700-8675-997440070ED2}"/>
              </a:ext>
            </a:extLst>
          </p:cNvPr>
          <p:cNvCxnSpPr/>
          <p:nvPr/>
        </p:nvCxnSpPr>
        <p:spPr>
          <a:xfrm>
            <a:off x="2603500" y="2908300"/>
            <a:ext cx="330200" cy="0"/>
          </a:xfrm>
          <a:prstGeom prst="straightConnector1">
            <a:avLst/>
          </a:prstGeom>
          <a:ln w="22225">
            <a:solidFill>
              <a:srgbClr val="3A6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3B7539D-256C-95EB-2308-236AE6C6406E}"/>
              </a:ext>
            </a:extLst>
          </p:cNvPr>
          <p:cNvSpPr/>
          <p:nvPr/>
        </p:nvSpPr>
        <p:spPr>
          <a:xfrm>
            <a:off x="4851400" y="2540000"/>
            <a:ext cx="2349500" cy="736600"/>
          </a:xfrm>
          <a:prstGeom prst="roundRect">
            <a:avLst>
              <a:gd name="adj" fmla="val 12000"/>
            </a:avLst>
          </a:prstGeom>
          <a:solidFill>
            <a:srgbClr val="EBF0F2"/>
          </a:solidFill>
          <a:ln w="12700">
            <a:solidFill>
              <a:srgbClr val="3A6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600">
                <a:solidFill>
                  <a:srgbClr val="1B2A41"/>
                </a:solidFill>
                <a:latin typeface="Calibri" panose="020F0502020204030204" pitchFamily="34" charset="0"/>
              </a:rPr>
              <a:t>remove NLTK</a:t>
            </a:r>
          </a:p>
          <a:p>
            <a:pPr algn="ctr"/>
            <a:r>
              <a:rPr lang="en-US" sz="1600">
                <a:solidFill>
                  <a:srgbClr val="1B2A41"/>
                </a:solidFill>
                <a:latin typeface="Calibri" panose="020F0502020204030204" pitchFamily="34" charset="0"/>
              </a:rPr>
              <a:t>stop words (198)</a:t>
            </a:r>
            <a:endParaRPr lang="en-IN" sz="16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F8E9E9-FF43-87D4-54AF-C246F06EA7C4}"/>
              </a:ext>
            </a:extLst>
          </p:cNvPr>
          <p:cNvCxnSpPr/>
          <p:nvPr/>
        </p:nvCxnSpPr>
        <p:spPr>
          <a:xfrm>
            <a:off x="4521200" y="2908300"/>
            <a:ext cx="330200" cy="0"/>
          </a:xfrm>
          <a:prstGeom prst="straightConnector1">
            <a:avLst/>
          </a:prstGeom>
          <a:ln w="22225">
            <a:solidFill>
              <a:srgbClr val="3A6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0447DB-580B-2F27-7DE9-A82C26F95EED}"/>
              </a:ext>
            </a:extLst>
          </p:cNvPr>
          <p:cNvSpPr/>
          <p:nvPr/>
        </p:nvSpPr>
        <p:spPr>
          <a:xfrm>
            <a:off x="7531100" y="2540000"/>
            <a:ext cx="1778000" cy="736600"/>
          </a:xfrm>
          <a:prstGeom prst="roundRect">
            <a:avLst>
              <a:gd name="adj" fmla="val 12000"/>
            </a:avLst>
          </a:prstGeom>
          <a:solidFill>
            <a:srgbClr val="EBF0F2"/>
          </a:solidFill>
          <a:ln w="12700">
            <a:solidFill>
              <a:srgbClr val="3A6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Snowball</a:t>
            </a:r>
          </a:p>
          <a:p>
            <a:pPr algn="ctr"/>
            <a:r>
              <a:rPr lang="en-IN" sz="1600">
                <a:solidFill>
                  <a:srgbClr val="1B2A41"/>
                </a:solidFill>
                <a:latin typeface="Calibri" panose="020F0502020204030204" pitchFamily="34" charset="0"/>
              </a:rPr>
              <a:t>stem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D0E82F-41B6-0F04-312B-9E79F14B20D7}"/>
              </a:ext>
            </a:extLst>
          </p:cNvPr>
          <p:cNvCxnSpPr/>
          <p:nvPr/>
        </p:nvCxnSpPr>
        <p:spPr>
          <a:xfrm>
            <a:off x="7200900" y="2908300"/>
            <a:ext cx="330200" cy="0"/>
          </a:xfrm>
          <a:prstGeom prst="straightConnector1">
            <a:avLst/>
          </a:prstGeom>
          <a:ln w="22225">
            <a:solidFill>
              <a:srgbClr val="3A6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9F6D0E0-64B4-2DBF-3044-FB8C7C599A63}"/>
              </a:ext>
            </a:extLst>
          </p:cNvPr>
          <p:cNvSpPr txBox="1"/>
          <p:nvPr/>
        </p:nvSpPr>
        <p:spPr>
          <a:xfrm>
            <a:off x="508000" y="1574800"/>
            <a:ext cx="508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2800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D6EF97-6465-E0D5-B6F1-BFBF5D37AF4A}"/>
              </a:ext>
            </a:extLst>
          </p:cNvPr>
          <p:cNvSpPr txBox="1"/>
          <p:nvPr/>
        </p:nvSpPr>
        <p:spPr>
          <a:xfrm>
            <a:off x="508000" y="2692400"/>
            <a:ext cx="508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2800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A4E9CD-03D0-8AEE-054B-B0272CB9D0C1}"/>
              </a:ext>
            </a:extLst>
          </p:cNvPr>
          <p:cNvSpPr/>
          <p:nvPr/>
        </p:nvSpPr>
        <p:spPr>
          <a:xfrm>
            <a:off x="508000" y="3810000"/>
            <a:ext cx="5397500" cy="381000"/>
          </a:xfrm>
          <a:prstGeom prst="rect">
            <a:avLst/>
          </a:prstGeom>
          <a:solidFill>
            <a:srgbClr val="A64B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r>
              <a:rPr lang="en-IN" sz="1975" b="1">
                <a:solidFill>
                  <a:srgbClr val="FFFFFF"/>
                </a:solidFill>
                <a:latin typeface="Calibri" panose="020F0502020204030204" pitchFamily="34" charset="0"/>
              </a:rPr>
              <a:t>A: annotate first (linguist)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17273C-2AF4-54E9-5F2D-737EF34203B9}"/>
              </a:ext>
            </a:extLst>
          </p:cNvPr>
          <p:cNvSpPr/>
          <p:nvPr/>
        </p:nvSpPr>
        <p:spPr>
          <a:xfrm>
            <a:off x="508000" y="4191000"/>
            <a:ext cx="5397500" cy="1397000"/>
          </a:xfrm>
          <a:prstGeom prst="rect">
            <a:avLst/>
          </a:prstGeom>
          <a:solidFill>
            <a:srgbClr val="F8ED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t"/>
          <a:lstStyle/>
          <a:p>
            <a:pPr>
              <a:spcAft>
                <a:spcPts val="400"/>
              </a:spcAft>
            </a:pPr>
            <a:r>
              <a:rPr lang="en-US" sz="1875">
                <a:solidFill>
                  <a:srgbClr val="1B2A41"/>
                </a:solidFill>
                <a:latin typeface="Calibri" panose="020F0502020204030204" pitchFamily="34" charset="0"/>
              </a:rPr>
              <a:t>Tag while capitals and context still exist, then reduce to dictionary forms.</a:t>
            </a:r>
          </a:p>
          <a:p>
            <a:pPr>
              <a:spcAft>
                <a:spcPts val="400"/>
              </a:spcAft>
            </a:pPr>
            <a:r>
              <a:rPr lang="en-US" sz="1875" i="1">
                <a:solidFill>
                  <a:srgbClr val="1B2A41"/>
                </a:solidFill>
                <a:latin typeface="Calibri" panose="020F0502020204030204" pitchFamily="34" charset="0"/>
              </a:rPr>
              <a:t>Bet: careful analysis keeps names and meanings intact.</a:t>
            </a:r>
            <a:endParaRPr lang="en-IN" sz="1875" i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5A4101-70F3-A8B3-1CC4-AB89FBBE4166}"/>
              </a:ext>
            </a:extLst>
          </p:cNvPr>
          <p:cNvSpPr/>
          <p:nvPr/>
        </p:nvSpPr>
        <p:spPr>
          <a:xfrm>
            <a:off x="6286500" y="3810000"/>
            <a:ext cx="5397500" cy="381000"/>
          </a:xfrm>
          <a:prstGeom prst="rect">
            <a:avLst/>
          </a:prstGeom>
          <a:solidFill>
            <a:srgbClr val="1B2A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r>
              <a:rPr lang="en-US" sz="1975" b="1">
                <a:solidFill>
                  <a:srgbClr val="FFFFFF"/>
                </a:solidFill>
                <a:latin typeface="Calibri" panose="020F0502020204030204" pitchFamily="34" charset="0"/>
              </a:rPr>
              <a:t>B: normalise first (IR engineer)</a:t>
            </a:r>
            <a:endParaRPr lang="en-IN" sz="1975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E4E812-DD87-27A0-FDF3-E78A634ADA07}"/>
              </a:ext>
            </a:extLst>
          </p:cNvPr>
          <p:cNvSpPr/>
          <p:nvPr/>
        </p:nvSpPr>
        <p:spPr>
          <a:xfrm>
            <a:off x="6286500" y="4191000"/>
            <a:ext cx="5397500" cy="1397000"/>
          </a:xfrm>
          <a:prstGeom prst="rect">
            <a:avLst/>
          </a:prstGeom>
          <a:solidFill>
            <a:srgbClr val="F1F2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t"/>
          <a:lstStyle/>
          <a:p>
            <a:pPr>
              <a:spcAft>
                <a:spcPts val="400"/>
              </a:spcAft>
            </a:pPr>
            <a:r>
              <a:rPr lang="en-US" sz="1875">
                <a:solidFill>
                  <a:srgbClr val="1B2A41"/>
                </a:solidFill>
                <a:latin typeface="Calibri" panose="020F0502020204030204" pitchFamily="34" charset="0"/>
              </a:rPr>
              <a:t>Lowercase at once, drop all common words, chop to stems (Manning et al. 2008).</a:t>
            </a:r>
          </a:p>
          <a:p>
            <a:pPr>
              <a:spcAft>
                <a:spcPts val="400"/>
              </a:spcAft>
            </a:pPr>
            <a:r>
              <a:rPr lang="en-US" sz="1875" i="1">
                <a:solidFill>
                  <a:srgbClr val="1B2A41"/>
                </a:solidFill>
                <a:latin typeface="Calibri" panose="020F0502020204030204" pitchFamily="34" charset="0"/>
              </a:rPr>
              <a:t>Bet: aggressive merging, more matches, smaller index.</a:t>
            </a:r>
            <a:endParaRPr lang="en-IN" sz="1875" i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C77689-E790-8352-6B8D-81FE4DDE4496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CDC116-2C09-918C-C981-14380A9D41DB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Order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86F375-A8A2-21BD-B5FD-C67BFBDFB65A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10 / 26</a:t>
            </a:r>
          </a:p>
        </p:txBody>
      </p:sp>
    </p:spTree>
    <p:extLst>
      <p:ext uri="{BB962C8B-B14F-4D97-AF65-F5344CB8AC3E}">
        <p14:creationId xmlns:p14="http://schemas.microsoft.com/office/powerpoint/2010/main" val="3878902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6AD36E-E660-A593-5D24-3742CD2B8227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2800" b="1">
                <a:solidFill>
                  <a:srgbClr val="1B2A41"/>
                </a:solidFill>
                <a:latin typeface="Calibri" panose="020F0502020204030204" pitchFamily="34" charset="0"/>
              </a:rPr>
              <a:t>Why each step sits where it does</a:t>
            </a:r>
            <a:endParaRPr lang="en-IN" sz="28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DC3CDA-1F97-52B3-D92D-79D4D55E6A8E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Every process: dependency, and what breaks if it moves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CDEC81-37F9-2335-2965-E49437263497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457217-8114-F139-2E08-0C95E696B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55927"/>
              </p:ext>
            </p:extLst>
          </p:nvPr>
        </p:nvGraphicFramePr>
        <p:xfrm>
          <a:off x="508000" y="1346200"/>
          <a:ext cx="11176000" cy="88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390148485"/>
                    </a:ext>
                  </a:extLst>
                </a:gridCol>
                <a:gridCol w="2123440">
                  <a:extLst>
                    <a:ext uri="{9D8B030D-6E8A-4147-A177-3AD203B41FA5}">
                      <a16:colId xmlns:a16="http://schemas.microsoft.com/office/drawing/2014/main" val="194770553"/>
                    </a:ext>
                  </a:extLst>
                </a:gridCol>
                <a:gridCol w="2570480">
                  <a:extLst>
                    <a:ext uri="{9D8B030D-6E8A-4147-A177-3AD203B41FA5}">
                      <a16:colId xmlns:a16="http://schemas.microsoft.com/office/drawing/2014/main" val="3205365737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577904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Process</a:t>
                      </a:r>
                    </a:p>
                  </a:txBody>
                  <a:tcPr marL="63500" marR="63500" marT="69850" marB="698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Position</a:t>
                      </a:r>
                    </a:p>
                  </a:txBody>
                  <a:tcPr marL="63500" marR="63500" marT="69850" marB="698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Depends on</a:t>
                      </a:r>
                    </a:p>
                  </a:txBody>
                  <a:tcPr marL="63500" marR="63500" marT="69850" marB="698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If moved</a:t>
                      </a:r>
                    </a:p>
                  </a:txBody>
                  <a:tcPr marL="63500" marR="63500" marT="69850" marB="698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251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Cleaning</a:t>
                      </a:r>
                    </a:p>
                  </a:txBody>
                  <a:tcPr marL="63500" marR="63500" marT="69850" marB="698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first</a:t>
                      </a:r>
                    </a:p>
                  </a:txBody>
                  <a:tcPr marL="63500" marR="63500" marT="69850" marB="698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raw text</a:t>
                      </a:r>
                    </a:p>
                  </a:txBody>
                  <a:tcPr marL="63500" marR="63500" marT="69850" marB="698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artefacts (</a:t>
                      </a:r>
                      <a:r>
                        <a:rPr lang="en-US" sz="1750" b="0" i="0">
                          <a:solidFill>
                            <a:srgbClr val="1B2A4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  <a:r>
                        <a:rPr lang="en-US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US" sz="1750" b="0" i="1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é</a:t>
                      </a:r>
                      <a:r>
                        <a:rPr lang="en-US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) become tokens</a:t>
                      </a:r>
                      <a:endParaRPr lang="en-IN" sz="1750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69850" marB="698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32559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Name merging</a:t>
                      </a:r>
                    </a:p>
                  </a:txBody>
                  <a:tcPr marL="63500" marR="63500" marT="69850" marB="698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inside tokenization</a:t>
                      </a:r>
                    </a:p>
                  </a:txBody>
                  <a:tcPr marL="63500" marR="63500" marT="69850" marB="698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original case, stop words present</a:t>
                      </a:r>
                      <a:endParaRPr lang="en-IN" sz="1750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69850" marB="698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after stop removal or stemming, names stop matching the lexicon</a:t>
                      </a:r>
                      <a:endParaRPr lang="en-IN" sz="1750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69850" marB="69850"/>
                </a:tc>
                <a:extLst>
                  <a:ext uri="{0D108BD9-81ED-4DB2-BD59-A6C34878D82A}">
                    <a16:rowId xmlns:a16="http://schemas.microsoft.com/office/drawing/2014/main" val="4035079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POS tagging (</a:t>
                      </a:r>
                      <a:r>
                        <a:rPr lang="en-IN" sz="1750" b="1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3500" marR="63500" marT="69850" marB="698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before lowercasing</a:t>
                      </a:r>
                    </a:p>
                  </a:txBody>
                  <a:tcPr marL="63500" marR="63500" marT="69850" marB="698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case, context</a:t>
                      </a:r>
                    </a:p>
                  </a:txBody>
                  <a:tcPr marL="63500" marR="63500" marT="69850" marB="698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50" b="0" i="1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Halo</a:t>
                      </a:r>
                      <a:r>
                        <a:rPr lang="en-US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 loses its proper-noun clue and gets lemmatized</a:t>
                      </a:r>
                      <a:endParaRPr lang="en-IN" sz="1750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69850" marB="69850"/>
                </a:tc>
                <a:extLst>
                  <a:ext uri="{0D108BD9-81ED-4DB2-BD59-A6C34878D82A}">
                    <a16:rowId xmlns:a16="http://schemas.microsoft.com/office/drawing/2014/main" val="153538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Lemmatization (</a:t>
                      </a:r>
                      <a:r>
                        <a:rPr lang="en-IN" sz="1750" b="1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3500" marR="63500" marT="69850" marB="698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after tagging</a:t>
                      </a:r>
                    </a:p>
                  </a:txBody>
                  <a:tcPr marL="63500" marR="63500" marT="69850" marB="698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POS tags</a:t>
                      </a:r>
                    </a:p>
                  </a:txBody>
                  <a:tcPr marL="63500" marR="63500" marT="69850" marB="698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without POS, WordNet under-merges (UI 0.62–0.87)</a:t>
                      </a:r>
                      <a:endParaRPr lang="en-IN" sz="1750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69850" marB="69850"/>
                </a:tc>
                <a:extLst>
                  <a:ext uri="{0D108BD9-81ED-4DB2-BD59-A6C34878D82A}">
                    <a16:rowId xmlns:a16="http://schemas.microsoft.com/office/drawing/2014/main" val="1469613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Stop words (</a:t>
                      </a:r>
                      <a:r>
                        <a:rPr lang="en-IN" sz="1750" b="1" i="0">
                          <a:solidFill>
                            <a:srgbClr val="3A6676"/>
                          </a:solidFill>
                          <a:latin typeface="Calibri" panose="020F0502020204030204" pitchFamily="34" charset="0"/>
                        </a:rPr>
                        <a:t>B</a:t>
                      </a:r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3500" marR="63500" marT="69850" marB="698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before stemming</a:t>
                      </a:r>
                    </a:p>
                  </a:txBody>
                  <a:tcPr marL="63500" marR="63500" marT="69850" marB="698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lowercase</a:t>
                      </a:r>
                    </a:p>
                  </a:txBody>
                  <a:tcPr marL="63500" marR="63500" marT="69850" marB="698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stem-first leaks </a:t>
                      </a:r>
                      <a:r>
                        <a:rPr lang="en-US" sz="1750" b="0" i="0">
                          <a:solidFill>
                            <a:srgbClr val="1B2A41"/>
                          </a:solidFill>
                          <a:latin typeface="Consolas" panose="020B0609020204030204" pitchFamily="49" charset="0"/>
                        </a:rPr>
                        <a:t>thi</a:t>
                      </a:r>
                      <a:r>
                        <a:rPr lang="en-US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US" sz="1750" b="0" i="0">
                          <a:solidFill>
                            <a:srgbClr val="1B2A41"/>
                          </a:solidFill>
                          <a:latin typeface="Consolas" panose="020B0609020204030204" pitchFamily="49" charset="0"/>
                        </a:rPr>
                        <a:t>wa</a:t>
                      </a:r>
                      <a:r>
                        <a:rPr lang="en-US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US" sz="1750" b="0" i="0">
                          <a:solidFill>
                            <a:srgbClr val="1B2A41"/>
                          </a:solidFill>
                          <a:latin typeface="Consolas" panose="020B0609020204030204" pitchFamily="49" charset="0"/>
                        </a:rPr>
                        <a:t>ha</a:t>
                      </a:r>
                      <a:endParaRPr lang="en-IN" sz="1750" b="0" i="0">
                        <a:solidFill>
                          <a:srgbClr val="1B2A4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63500" marR="63500" marT="69850" marB="69850"/>
                </a:tc>
                <a:extLst>
                  <a:ext uri="{0D108BD9-81ED-4DB2-BD59-A6C34878D82A}">
                    <a16:rowId xmlns:a16="http://schemas.microsoft.com/office/drawing/2014/main" val="99359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Query processing</a:t>
                      </a:r>
                    </a:p>
                  </a:txBody>
                  <a:tcPr marL="63500" marR="63500" marT="69850" marB="698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same as documents</a:t>
                      </a:r>
                    </a:p>
                  </a:txBody>
                  <a:tcPr marL="63500" marR="63500" marT="69850" marB="698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the pipeline</a:t>
                      </a:r>
                    </a:p>
                  </a:txBody>
                  <a:tcPr marL="63500" marR="63500" marT="69850" marB="698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query terms would not match index terms</a:t>
                      </a:r>
                      <a:endParaRPr lang="en-IN" sz="1750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69850" marB="698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9746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0A89294-78B8-7104-CFFD-FF45C7EDD136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AD9A61-2B38-D483-7096-FDAD636340EE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8520C-B326-61DE-AA1B-5F6A4A67DDCE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11 / 26</a:t>
            </a:r>
          </a:p>
        </p:txBody>
      </p:sp>
    </p:spTree>
    <p:extLst>
      <p:ext uri="{BB962C8B-B14F-4D97-AF65-F5344CB8AC3E}">
        <p14:creationId xmlns:p14="http://schemas.microsoft.com/office/powerpoint/2010/main" val="3456142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2A940D-A577-65CD-BB95-682EC3123418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2800" b="1">
                <a:solidFill>
                  <a:srgbClr val="1B2A41"/>
                </a:solidFill>
                <a:latin typeface="Calibri" panose="020F0502020204030204" pitchFamily="34" charset="0"/>
              </a:rPr>
              <a:t>One sentence through both pipelines</a:t>
            </a:r>
            <a:endParaRPr lang="en-IN" sz="28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E4ABC-C2DE-60E7-F286-302F0039FCC2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 i="1">
                <a:solidFill>
                  <a:srgbClr val="5F5E59"/>
                </a:solidFill>
                <a:latin typeface="Calibri" panose="020F0502020204030204" pitchFamily="34" charset="0"/>
              </a:rPr>
              <a:t>“The Legend of Zelda: Majora’s Mask was released for the Nintendo 64 in 2000 and players were praising it.”</a:t>
            </a:r>
            <a:endParaRPr lang="en-IN" sz="1600" i="1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0BDC11-51F7-25B9-1EE6-5A1921EE84A2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FBA477-39DD-90D0-5193-3B02FE952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34401"/>
              </p:ext>
            </p:extLst>
          </p:nvPr>
        </p:nvGraphicFramePr>
        <p:xfrm>
          <a:off x="1397000" y="1371600"/>
          <a:ext cx="9398000" cy="88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517197036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7418271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885706998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955476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Token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POS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 term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3A6676"/>
                          </a:solidFill>
                          <a:latin typeface="Calibri" panose="020F0502020204030204" pitchFamily="34" charset="0"/>
                        </a:rPr>
                        <a:t>B</a:t>
                      </a:r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 term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26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The_Legend_of_Zelda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NN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the_legend_of_zelda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the_legend_of_zelda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1549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Nintendo_64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NNP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nintendo_64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nintendo_64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1165184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was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VBD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5F5E59"/>
                          </a:solidFill>
                          <a:latin typeface="Calibri" panose="020F0502020204030204" pitchFamily="34" charset="0"/>
                        </a:rPr>
                        <a:t>(removed)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1464605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released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VBN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release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3A6676"/>
                          </a:solidFill>
                          <a:latin typeface="Calibri" panose="020F0502020204030204" pitchFamily="34" charset="0"/>
                        </a:rPr>
                        <a:t>releas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2283067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players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NNS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player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player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2107565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praising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VBG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praise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3A6676"/>
                          </a:solidFill>
                          <a:latin typeface="Calibri" panose="020F0502020204030204" pitchFamily="34" charset="0"/>
                        </a:rPr>
                        <a:t>prais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9472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6047AA8-B3E7-6E5E-93BC-29F3D12BE55D}"/>
              </a:ext>
            </a:extLst>
          </p:cNvPr>
          <p:cNvSpPr txBox="1"/>
          <p:nvPr/>
        </p:nvSpPr>
        <p:spPr>
          <a:xfrm>
            <a:off x="1397000" y="4222750"/>
            <a:ext cx="9398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US" sz="1250">
                <a:solidFill>
                  <a:srgbClr val="5F5E59"/>
                </a:solidFill>
                <a:latin typeface="Consolas" panose="020B0609020204030204" pitchFamily="49" charset="0"/>
              </a:rPr>
              <a:t>pipeline_trace_example.csv</a:t>
            </a:r>
            <a:r>
              <a:rPr lang="en-US" sz="1250">
                <a:solidFill>
                  <a:srgbClr val="5F5E59"/>
                </a:solidFill>
                <a:latin typeface="Calibri" panose="020F0502020204030204" pitchFamily="34" charset="0"/>
              </a:rPr>
              <a:t> (abridged)</a:t>
            </a:r>
            <a:endParaRPr lang="en-IN" sz="125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782119-D034-8F08-2F6E-05AECE3B7EC5}"/>
              </a:ext>
            </a:extLst>
          </p:cNvPr>
          <p:cNvSpPr txBox="1"/>
          <p:nvPr/>
        </p:nvSpPr>
        <p:spPr>
          <a:xfrm>
            <a:off x="508000" y="4641850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keeps </a:t>
            </a:r>
            <a:r>
              <a:rPr lang="en-US" sz="2125">
                <a:solidFill>
                  <a:srgbClr val="1D4ED8"/>
                </a:solidFill>
                <a:latin typeface="Calibri" panose="020F0502020204030204" pitchFamily="34" charset="0"/>
              </a:rPr>
              <a:t>real words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; </a:t>
            </a:r>
            <a:r>
              <a:rPr lang="en-US" sz="2125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keeps fewer, truncated stems</a:t>
            </a:r>
          </a:p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both protect </a:t>
            </a:r>
            <a:r>
              <a:rPr lang="en-US" sz="2125">
                <a:solidFill>
                  <a:srgbClr val="1D4ED8"/>
                </a:solidFill>
                <a:latin typeface="Calibri" panose="020F0502020204030204" pitchFamily="34" charset="0"/>
              </a:rPr>
              <a:t>names identically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: the tokenizer merged them before either pipeline started</a:t>
            </a:r>
            <a:endParaRPr lang="en-IN" sz="212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AF9A3-788D-ADE0-BE3C-0B41EFA38416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7451AA-CA85-1868-4CFB-4C1DD80E38D9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Order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0C3DF-874A-4C15-8098-97F2CAFE6C46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12 / 26</a:t>
            </a:r>
          </a:p>
        </p:txBody>
      </p:sp>
    </p:spTree>
    <p:extLst>
      <p:ext uri="{BB962C8B-B14F-4D97-AF65-F5344CB8AC3E}">
        <p14:creationId xmlns:p14="http://schemas.microsoft.com/office/powerpoint/2010/main" val="673197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7DE837-4352-F8FC-53B7-17CAE1B31DB3}"/>
              </a:ext>
            </a:extLst>
          </p:cNvPr>
          <p:cNvSpPr txBox="1"/>
          <p:nvPr/>
        </p:nvSpPr>
        <p:spPr>
          <a:xfrm>
            <a:off x="508000" y="27940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Select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Order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A64B2C"/>
                </a:solidFill>
                <a:latin typeface="Calibri" panose="020F0502020204030204" pitchFamily="34" charset="0"/>
              </a:rPr>
              <a:t>Implement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Compare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Evaluate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Justify</a:t>
            </a:r>
            <a:endParaRPr lang="en-IN" sz="2800" b="1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0FF4C-4166-CC72-BC61-43F191EEA47E}"/>
              </a:ext>
            </a:extLst>
          </p:cNvPr>
          <p:cNvSpPr txBox="1"/>
          <p:nvPr/>
        </p:nvSpPr>
        <p:spPr>
          <a:xfrm>
            <a:off x="508000" y="3619500"/>
            <a:ext cx="111760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sz="1900">
                <a:solidFill>
                  <a:srgbClr val="5F5E59"/>
                </a:solidFill>
                <a:latin typeface="Calibri" panose="020F0502020204030204" pitchFamily="34" charset="0"/>
              </a:rPr>
              <a:t>Build the indexer and the Boolean searcher, shared by both pipelines</a:t>
            </a:r>
            <a:endParaRPr lang="en-IN" sz="19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501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9D308C-591D-6038-0CF5-11E08BC48FAE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2800" b="1">
                <a:solidFill>
                  <a:srgbClr val="1B2A41"/>
                </a:solidFill>
                <a:latin typeface="Calibri" panose="020F0502020204030204" pitchFamily="34" charset="0"/>
              </a:rPr>
              <a:t>The positional inverted index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05F2F-6144-0F65-A43F-E659945309A5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The data structure at the heart of the system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C337D9-BAC1-64EE-C889-1B2C74EE9C7E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BE9ECD5-36ED-30DC-48E9-0123757A87A7}"/>
              </a:ext>
            </a:extLst>
          </p:cNvPr>
          <p:cNvSpPr txBox="1"/>
          <p:nvPr/>
        </p:nvSpPr>
        <p:spPr>
          <a:xfrm>
            <a:off x="508000" y="1371600"/>
            <a:ext cx="5969000" cy="3492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IN" sz="2125" b="1">
                <a:solidFill>
                  <a:srgbClr val="1B2A41"/>
                </a:solidFill>
                <a:latin typeface="Calibri" panose="020F0502020204030204" pitchFamily="34" charset="0"/>
              </a:rPr>
              <a:t>term → document → positions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727BB-9591-47D6-DAC5-30DC9E2E51F6}"/>
              </a:ext>
            </a:extLst>
          </p:cNvPr>
          <p:cNvSpPr txBox="1"/>
          <p:nvPr/>
        </p:nvSpPr>
        <p:spPr>
          <a:xfrm>
            <a:off x="508000" y="1822450"/>
            <a:ext cx="5969000" cy="9781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563">
                <a:solidFill>
                  <a:srgbClr val="1B2A41"/>
                </a:solidFill>
                <a:latin typeface="Consolas" panose="020B0609020204030204" pitchFamily="49" charset="0"/>
              </a:rPr>
              <a:t>"game_boy": {"D01": [3893], "D03": [1978],</a:t>
            </a:r>
          </a:p>
          <a:p>
            <a:r>
              <a:rPr lang="en-IN" sz="1563">
                <a:solidFill>
                  <a:srgbClr val="1B2A41"/>
                </a:solidFill>
                <a:latin typeface="Consolas" panose="020B0609020204030204" pitchFamily="49" charset="0"/>
              </a:rPr>
              <a:t>             "D05": [5237], ...}   12 docs</a:t>
            </a:r>
          </a:p>
          <a:p>
            <a:r>
              <a:rPr lang="en-IN" sz="1563">
                <a:solidFill>
                  <a:srgbClr val="1B2A41"/>
                </a:solidFill>
                <a:latin typeface="Consolas" panose="020B0609020204030204" pitchFamily="49" charset="0"/>
              </a:rPr>
              <a:t>"metroid":  {"D01": [2160], "D05": [5808, 7090],</a:t>
            </a:r>
          </a:p>
          <a:p>
            <a:r>
              <a:rPr lang="en-IN" sz="1563">
                <a:solidFill>
                  <a:srgbClr val="1B2A41"/>
                </a:solidFill>
                <a:latin typeface="Consolas" panose="020B0609020204030204" pitchFamily="49" charset="0"/>
              </a:rPr>
              <a:t>             "D08": [790, 1091, 1558], ...}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153C6-1C67-B190-8056-B5844A1964F3}"/>
              </a:ext>
            </a:extLst>
          </p:cNvPr>
          <p:cNvSpPr txBox="1"/>
          <p:nvPr/>
        </p:nvSpPr>
        <p:spPr>
          <a:xfrm>
            <a:off x="508000" y="3003804"/>
            <a:ext cx="5969000" cy="10731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positions make </a:t>
            </a:r>
            <a:r>
              <a:rPr lang="en-US" sz="2125">
                <a:solidFill>
                  <a:srgbClr val="1D4ED8"/>
                </a:solidFill>
                <a:latin typeface="Calibri" panose="020F0502020204030204" pitchFamily="34" charset="0"/>
              </a:rPr>
              <a:t>phrase search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possible</a:t>
            </a:r>
          </a:p>
          <a:p>
            <a:pPr marL="457200" indent="-4572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same idea as Lucene / Elasticsearch, without compression</a:t>
            </a:r>
            <a:endParaRPr lang="en-IN" sz="212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3EB146-7400-6BA6-5939-1771630A2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765809"/>
              </p:ext>
            </p:extLst>
          </p:nvPr>
        </p:nvGraphicFramePr>
        <p:xfrm>
          <a:off x="7112000" y="1371600"/>
          <a:ext cx="4572000" cy="63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414944944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19924062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2641519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endParaRPr lang="en-IN" sz="1875" b="1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1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1" i="0">
                          <a:solidFill>
                            <a:srgbClr val="3A6676"/>
                          </a:solidFill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156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Terms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13,165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11,247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69210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Postings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53,258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47,557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1155906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Positions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176,387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137,253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56479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In only 1 doc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54%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53%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126498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9E49EFC-A90A-39D3-6826-54D13B00836E}"/>
              </a:ext>
            </a:extLst>
          </p:cNvPr>
          <p:cNvSpPr txBox="1"/>
          <p:nvPr/>
        </p:nvSpPr>
        <p:spPr>
          <a:xfrm>
            <a:off x="7112000" y="3422650"/>
            <a:ext cx="4572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IN" sz="1250">
                <a:solidFill>
                  <a:srgbClr val="5F5E59"/>
                </a:solidFill>
                <a:latin typeface="Consolas" panose="020B0609020204030204" pitchFamily="49" charset="0"/>
              </a:rPr>
              <a:t>index_structure.csv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ED3F8A-355C-0E56-E270-811268460DD5}"/>
              </a:ext>
            </a:extLst>
          </p:cNvPr>
          <p:cNvSpPr txBox="1"/>
          <p:nvPr/>
        </p:nvSpPr>
        <p:spPr>
          <a:xfrm>
            <a:off x="7112000" y="3816350"/>
            <a:ext cx="4572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1750">
                <a:solidFill>
                  <a:srgbClr val="5F5E59"/>
                </a:solidFill>
                <a:latin typeface="Calibri" panose="020F0502020204030204" pitchFamily="34" charset="0"/>
              </a:rPr>
              <a:t>Zipf: most terms are rare and carry the information; terms in every document get an idf of 0.</a:t>
            </a:r>
            <a:endParaRPr lang="en-IN" sz="175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C133B9-BF00-262E-1FEE-89C7E2187B71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E5B592-CF69-F8FE-2EC4-DEF8182F5A04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Implement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A63BFF-0D03-D571-D941-F9650A7CCC8C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13 / 26</a:t>
            </a:r>
          </a:p>
        </p:txBody>
      </p:sp>
    </p:spTree>
    <p:extLst>
      <p:ext uri="{BB962C8B-B14F-4D97-AF65-F5344CB8AC3E}">
        <p14:creationId xmlns:p14="http://schemas.microsoft.com/office/powerpoint/2010/main" val="1643628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CF4FC4-7B57-E35C-13C3-48BC3D7F9324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2800" b="1">
                <a:solidFill>
                  <a:srgbClr val="1B2A41"/>
                </a:solidFill>
                <a:latin typeface="Calibri" panose="020F0502020204030204" pitchFamily="34" charset="0"/>
              </a:rPr>
              <a:t>The searcher and the 12 test queries</a:t>
            </a:r>
            <a:endParaRPr lang="en-IN" sz="28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4FA93-D465-3CEB-8ED1-9FB821080C09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Boolean decides </a:t>
            </a:r>
            <a:r>
              <a:rPr lang="en-US" sz="1600" i="1">
                <a:solidFill>
                  <a:srgbClr val="5F5E59"/>
                </a:solidFill>
                <a:latin typeface="Calibri" panose="020F0502020204030204" pitchFamily="34" charset="0"/>
              </a:rPr>
              <a:t>which</a:t>
            </a: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 documents; ranking decides </a:t>
            </a:r>
            <a:r>
              <a:rPr lang="en-US" sz="1600" i="1">
                <a:solidFill>
                  <a:srgbClr val="5F5E59"/>
                </a:solidFill>
                <a:latin typeface="Calibri" panose="020F0502020204030204" pitchFamily="34" charset="0"/>
              </a:rPr>
              <a:t>in what order</a:t>
            </a:r>
            <a:endParaRPr lang="en-IN" sz="1600" i="1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D8F7DB-2625-DA26-02FC-F408B1543AE2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26C5C35-F37C-05EC-4318-B58478D73E7E}"/>
              </a:ext>
            </a:extLst>
          </p:cNvPr>
          <p:cNvSpPr txBox="1"/>
          <p:nvPr/>
        </p:nvSpPr>
        <p:spPr>
          <a:xfrm>
            <a:off x="508000" y="1371600"/>
            <a:ext cx="4572000" cy="26225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1250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query runs through the </a:t>
            </a:r>
            <a:r>
              <a:rPr lang="en-US" sz="2125">
                <a:solidFill>
                  <a:srgbClr val="1D4ED8"/>
                </a:solidFill>
                <a:latin typeface="Calibri" panose="020F0502020204030204" pitchFamily="34" charset="0"/>
              </a:rPr>
              <a:t>same pipeline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as the documents</a:t>
            </a:r>
          </a:p>
          <a:p>
            <a:pPr marL="457200" indent="-457200">
              <a:spcAft>
                <a:spcPts val="1250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AND = intersect, OR = union, NOT = subtract posting lists; phrases checked by position</a:t>
            </a:r>
          </a:p>
          <a:p>
            <a:pPr marL="457200" indent="-457200">
              <a:spcAft>
                <a:spcPts val="1250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matches ranked by TF-IDF cosine, title matches × 2</a:t>
            </a:r>
            <a:endParaRPr lang="en-IN" sz="212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684A8E-3F99-2603-852C-BE649875A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75241"/>
              </p:ext>
            </p:extLst>
          </p:nvPr>
        </p:nvGraphicFramePr>
        <p:xfrm>
          <a:off x="5461000" y="1371600"/>
          <a:ext cx="6223000" cy="1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383818505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143049476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1851884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endParaRPr lang="en-IN" sz="1625" b="1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Query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6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Q01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onsolas" panose="020B0609020204030204" pitchFamily="49" charset="0"/>
                        </a:rPr>
                        <a:t>Total War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keyword (bigram)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01526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Q03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onsolas" panose="020B0609020204030204" pitchFamily="49" charset="0"/>
                        </a:rPr>
                        <a:t>Nintendo AND PlayStation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AND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192704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Q04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25" b="0" i="0">
                          <a:solidFill>
                            <a:srgbClr val="1B2A41"/>
                          </a:solidFill>
                          <a:latin typeface="Consolas" panose="020B0609020204030204" pitchFamily="49" charset="0"/>
                        </a:rPr>
                        <a:t>"Ash Ketchum" AND NOT Japanese</a:t>
                      </a:r>
                      <a:endParaRPr lang="en-IN" sz="1625" b="0" i="0">
                        <a:solidFill>
                          <a:srgbClr val="1B2A4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NOT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91104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Q06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25" b="0" i="0">
                          <a:solidFill>
                            <a:srgbClr val="1B2A41"/>
                          </a:solidFill>
                          <a:latin typeface="Consolas" panose="020B0609020204030204" pitchFamily="49" charset="0"/>
                        </a:rPr>
                        <a:t>Zelda AND (theme OR song)</a:t>
                      </a:r>
                      <a:endParaRPr lang="en-IN" sz="1625" b="0" i="0">
                        <a:solidFill>
                          <a:srgbClr val="1B2A4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OR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928721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Q07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onsolas" panose="020B0609020204030204" pitchFamily="49" charset="0"/>
                        </a:rPr>
                        <a:t>"Tomb Raider"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phrase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206779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Q09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onsolas" panose="020B0609020204030204" pitchFamily="49" charset="0"/>
                        </a:rPr>
                        <a:t>"Guitar Hero Live"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phrase (trigram)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2934047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Q12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onsolas" panose="020B0609020204030204" pitchFamily="49" charset="0"/>
                        </a:rPr>
                        <a:t>SNES OR "Super Nintendo …"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2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OR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8160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98C7344-67DD-0586-4ACD-D36CD6511A7C}"/>
              </a:ext>
            </a:extLst>
          </p:cNvPr>
          <p:cNvSpPr txBox="1"/>
          <p:nvPr/>
        </p:nvSpPr>
        <p:spPr>
          <a:xfrm>
            <a:off x="5461000" y="4318000"/>
            <a:ext cx="6223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US" sz="1250">
                <a:solidFill>
                  <a:srgbClr val="5F5E59"/>
                </a:solidFill>
                <a:latin typeface="Calibri" panose="020F0502020204030204" pitchFamily="34" charset="0"/>
              </a:rPr>
              <a:t>7 of the 12 queries; every type covered</a:t>
            </a:r>
            <a:endParaRPr lang="en-IN" sz="125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0EB4F-A3C4-E9F8-6FF4-BA46A2DCB45A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00DB53-5381-D146-9305-26ACD9D67BFF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Implement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7751AD-DEFD-6D33-8AD1-5E38D0224A38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14 / 26</a:t>
            </a:r>
          </a:p>
        </p:txBody>
      </p:sp>
    </p:spTree>
    <p:extLst>
      <p:ext uri="{BB962C8B-B14F-4D97-AF65-F5344CB8AC3E}">
        <p14:creationId xmlns:p14="http://schemas.microsoft.com/office/powerpoint/2010/main" val="1047027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33CD1D-3DE9-00DA-8233-197C207E452F}"/>
              </a:ext>
            </a:extLst>
          </p:cNvPr>
          <p:cNvSpPr txBox="1"/>
          <p:nvPr/>
        </p:nvSpPr>
        <p:spPr>
          <a:xfrm>
            <a:off x="508000" y="27940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Select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Order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Implement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A64B2C"/>
                </a:solidFill>
                <a:latin typeface="Calibri" panose="020F0502020204030204" pitchFamily="34" charset="0"/>
              </a:rPr>
              <a:t>Compare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A64B2C"/>
                </a:solidFill>
                <a:latin typeface="Calibri" panose="020F0502020204030204" pitchFamily="34" charset="0"/>
              </a:rPr>
              <a:t>Evaluate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Justify</a:t>
            </a:r>
            <a:endParaRPr lang="en-IN" sz="2800" b="1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0D1BC-3EA4-7482-586A-13110914F0B1}"/>
              </a:ext>
            </a:extLst>
          </p:cNvPr>
          <p:cNvSpPr txBox="1"/>
          <p:nvPr/>
        </p:nvSpPr>
        <p:spPr>
          <a:xfrm>
            <a:off x="508000" y="3619500"/>
            <a:ext cx="111760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sz="1900">
                <a:solidFill>
                  <a:srgbClr val="5F5E59"/>
                </a:solidFill>
                <a:latin typeface="Calibri" panose="020F0502020204030204" pitchFamily="34" charset="0"/>
              </a:rPr>
              <a:t>Predictions first, then the numbers</a:t>
            </a:r>
            <a:endParaRPr lang="en-IN" sz="19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239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21EE9B-DF00-1414-3064-F6AB271C750A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2800" b="1">
                <a:solidFill>
                  <a:srgbClr val="1B2A41"/>
                </a:solidFill>
                <a:latin typeface="Calibri" panose="020F0502020204030204" pitchFamily="34" charset="0"/>
              </a:rPr>
              <a:t>What we predicted, before running anything</a:t>
            </a:r>
            <a:endParaRPr lang="en-IN" sz="28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9D0A4-0693-3B6F-F8A9-3EE8C75DF622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600">
                <a:solidFill>
                  <a:srgbClr val="5F5E59"/>
                </a:solidFill>
                <a:latin typeface="Calibri" panose="020F0502020204030204" pitchFamily="34" charset="0"/>
              </a:rPr>
              <a:t>Six preregistered hypotheses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0A8F83-F4FB-56D8-D729-4D9E94CB5445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54FA03-5DFF-3866-5361-A5E8232D0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182289"/>
              </p:ext>
            </p:extLst>
          </p:nvPr>
        </p:nvGraphicFramePr>
        <p:xfrm>
          <a:off x="508000" y="1371600"/>
          <a:ext cx="11176000" cy="88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4029952161"/>
                    </a:ext>
                  </a:extLst>
                </a:gridCol>
                <a:gridCol w="4693920">
                  <a:extLst>
                    <a:ext uri="{9D8B030D-6E8A-4147-A177-3AD203B41FA5}">
                      <a16:colId xmlns:a16="http://schemas.microsoft.com/office/drawing/2014/main" val="2883652847"/>
                    </a:ext>
                  </a:extLst>
                </a:gridCol>
                <a:gridCol w="3799840">
                  <a:extLst>
                    <a:ext uri="{9D8B030D-6E8A-4147-A177-3AD203B41FA5}">
                      <a16:colId xmlns:a16="http://schemas.microsoft.com/office/drawing/2014/main" val="127167560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2956552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endParaRPr lang="en-IN" sz="1875" b="1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Prediction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Evidence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Verdict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700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H1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75" b="1" i="0">
                          <a:solidFill>
                            <a:srgbClr val="3A6676"/>
                          </a:solidFill>
                          <a:latin typeface="Calibri" panose="020F0502020204030204" pitchFamily="34" charset="0"/>
                        </a:rPr>
                        <a:t>B</a:t>
                      </a:r>
                      <a:r>
                        <a:rPr lang="en-US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 has fewer tokens and a smaller vocabulary</a:t>
                      </a:r>
                      <a:endParaRPr lang="en-IN" sz="1875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176,387 vs 137,253; 13,165 vs 11,247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2E6B3F"/>
                          </a:solidFill>
                          <a:latin typeface="Calibri" panose="020F0502020204030204" pitchFamily="34" charset="0"/>
                        </a:rPr>
                        <a:t>supported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7880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H2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3A6676"/>
                          </a:solidFill>
                          <a:latin typeface="Calibri" panose="020F0502020204030204" pitchFamily="34" charset="0"/>
                        </a:rPr>
                        <a:t>B</a:t>
                      </a:r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 has higher recall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R 0.796 vs 0.796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no difference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562209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H3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75" b="1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 has higher precision, esp. phrases</a:t>
                      </a:r>
                      <a:endParaRPr lang="en-IN" sz="1875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 0.596 vs 0.596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no difference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2517948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H4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75" b="1" i="0">
                          <a:solidFill>
                            <a:srgbClr val="3A6676"/>
                          </a:solidFill>
                          <a:latin typeface="Calibri" panose="020F0502020204030204" pitchFamily="34" charset="0"/>
                        </a:rPr>
                        <a:t>B</a:t>
                      </a:r>
                      <a:r>
                        <a:rPr lang="en-US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 makes false phrase matches</a:t>
                      </a:r>
                      <a:endParaRPr lang="en-IN" sz="1875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16 vs 28 docs (probe)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2E6B3F"/>
                          </a:solidFill>
                          <a:latin typeface="Calibri" panose="020F0502020204030204" pitchFamily="34" charset="0"/>
                        </a:rPr>
                        <a:t>supported†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4037230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H5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75" b="1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 preserves ≥ 5 pts more names</a:t>
                      </a:r>
                      <a:endParaRPr lang="en-IN" sz="1875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1.000 vs 0.898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2E6B3F"/>
                          </a:solidFill>
                          <a:latin typeface="Calibri" panose="020F0502020204030204" pitchFamily="34" charset="0"/>
                        </a:rPr>
                        <a:t>supported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545618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H6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75" b="1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 has more meaningful bigrams</a:t>
                      </a:r>
                      <a:endParaRPr lang="en-IN" sz="1875" b="0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0.30 vs 1.00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rejected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6061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669CBAB-9A2B-51D4-454F-D8BE8727CB30}"/>
              </a:ext>
            </a:extLst>
          </p:cNvPr>
          <p:cNvSpPr txBox="1"/>
          <p:nvPr/>
        </p:nvSpPr>
        <p:spPr>
          <a:xfrm>
            <a:off x="508000" y="4222750"/>
            <a:ext cx="11176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US" sz="1250">
                <a:solidFill>
                  <a:srgbClr val="5F5E59"/>
                </a:solidFill>
                <a:latin typeface="Consolas" panose="020B0609020204030204" pitchFamily="49" charset="0"/>
              </a:rPr>
              <a:t>hypotheses.csv</a:t>
            </a:r>
            <a:r>
              <a:rPr lang="en-US" sz="1250">
                <a:solidFill>
                  <a:srgbClr val="5F5E59"/>
                </a:solidFill>
                <a:latin typeface="Calibri" panose="020F0502020204030204" pitchFamily="34" charset="0"/>
              </a:rPr>
              <a:t>.  † exploratory: not testable on the 12 queries</a:t>
            </a:r>
            <a:endParaRPr lang="en-IN" sz="125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F62E0E-6147-7B76-10AC-C0722B771810}"/>
              </a:ext>
            </a:extLst>
          </p:cNvPr>
          <p:cNvSpPr txBox="1"/>
          <p:nvPr/>
        </p:nvSpPr>
        <p:spPr>
          <a:xfrm>
            <a:off x="508000" y="4641850"/>
            <a:ext cx="11176000" cy="3111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1875">
                <a:solidFill>
                  <a:srgbClr val="5F5E59"/>
                </a:solidFill>
                <a:latin typeface="Calibri" panose="020F0502020204030204" pitchFamily="34" charset="0"/>
              </a:rPr>
              <a:t>Reporting the predictions that failed is part of the result: H2, H3 and H6 did not hold.</a:t>
            </a:r>
            <a:endParaRPr lang="en-IN" sz="1875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2E811F-7C1F-703A-2D4C-04592D72074D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05EFB0-2790-B39E-7D05-533E33912AE6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Compare &amp; Evaluate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38A387-B965-52ED-3A07-84EA2F64D1BD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15 / 26</a:t>
            </a:r>
          </a:p>
        </p:txBody>
      </p:sp>
    </p:spTree>
    <p:extLst>
      <p:ext uri="{BB962C8B-B14F-4D97-AF65-F5344CB8AC3E}">
        <p14:creationId xmlns:p14="http://schemas.microsoft.com/office/powerpoint/2010/main" val="1084593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8CF0B-66CF-D78D-0198-0CECAD601766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2800" b="1">
                <a:solidFill>
                  <a:srgbClr val="1B2A41"/>
                </a:solidFill>
                <a:latin typeface="Calibri" panose="020F0502020204030204" pitchFamily="34" charset="0"/>
              </a:rPr>
              <a:t>Pipeline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2964B9-C43E-D5F8-2DE1-73FBD6E9CE98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Table H: the brief’s required comparison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DDE111-F421-5505-6A7D-66C5B92A7354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BEF5BB-5C2A-C367-7912-AE00BDD1A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923536"/>
              </p:ext>
            </p:extLst>
          </p:nvPr>
        </p:nvGraphicFramePr>
        <p:xfrm>
          <a:off x="508000" y="1371600"/>
          <a:ext cx="6858000" cy="114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136659727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34118557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47883703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34392748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Measure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1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1" i="0">
                          <a:solidFill>
                            <a:srgbClr val="3A6676"/>
                          </a:solidFill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Final (</a:t>
                      </a:r>
                      <a:r>
                        <a:rPr lang="en-IN" sz="1750" b="1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750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27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Token count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176,387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137,253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176,387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46389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Vocabulary size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13,165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11,247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13,165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586971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Meaningful bigrams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2726019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Name preservation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D4ED8"/>
                          </a:solidFill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0.898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811327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Precision (macro)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0.596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0.596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0.596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869240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Recall (macro)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0.805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0.805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0.805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1906121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F1 (macro)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D4ED8"/>
                          </a:solidFill>
                          <a:latin typeface="Calibri" panose="020F0502020204030204" pitchFamily="34" charset="0"/>
                        </a:rPr>
                        <a:t>0.648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D4ED8"/>
                          </a:solidFill>
                          <a:latin typeface="Calibri" panose="020F0502020204030204" pitchFamily="34" charset="0"/>
                        </a:rPr>
                        <a:t>0.648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0.648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535125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P@5 / P@10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.583 / .367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.583 / .367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50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.583 / .367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2063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FE9A55B-EF77-F326-E279-89E89970088C}"/>
              </a:ext>
            </a:extLst>
          </p:cNvPr>
          <p:cNvSpPr txBox="1"/>
          <p:nvPr/>
        </p:nvSpPr>
        <p:spPr>
          <a:xfrm>
            <a:off x="508000" y="4851400"/>
            <a:ext cx="6858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IN" sz="1250">
                <a:solidFill>
                  <a:srgbClr val="5F5E59"/>
                </a:solidFill>
                <a:latin typeface="Consolas" panose="020B0609020204030204" pitchFamily="49" charset="0"/>
              </a:rPr>
              <a:t>pipeline_comparison.csv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2EA39-CAA8-457C-8913-3B11867D47CD}"/>
              </a:ext>
            </a:extLst>
          </p:cNvPr>
          <p:cNvSpPr txBox="1"/>
          <p:nvPr/>
        </p:nvSpPr>
        <p:spPr>
          <a:xfrm>
            <a:off x="7747000" y="1371600"/>
            <a:ext cx="3937000" cy="288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11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index </a:t>
            </a:r>
            <a:r>
              <a:rPr lang="en-US" sz="2000">
                <a:solidFill>
                  <a:srgbClr val="1D4ED8"/>
                </a:solidFill>
                <a:latin typeface="Calibri" panose="020F0502020204030204" pitchFamily="34" charset="0"/>
              </a:rPr>
              <a:t>29% smaller</a:t>
            </a:r>
          </a:p>
          <a:p>
            <a:pPr marL="457200" indent="-457200">
              <a:spcAft>
                <a:spcPts val="11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keeps </a:t>
            </a:r>
            <a:r>
              <a:rPr lang="en-US" sz="2000">
                <a:solidFill>
                  <a:srgbClr val="1D4ED8"/>
                </a:solidFill>
                <a:latin typeface="Calibri" panose="020F0502020204030204" pitchFamily="34" charset="0"/>
              </a:rPr>
              <a:t>all 128 names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; </a:t>
            </a:r>
            <a:r>
              <a:rPr lang="en-US" sz="2000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breaks 13 (</a:t>
            </a:r>
            <a:r>
              <a:rPr lang="en-US" sz="2000" i="1">
                <a:solidFill>
                  <a:srgbClr val="1B2A41"/>
                </a:solidFill>
                <a:latin typeface="Calibri" panose="020F0502020204030204" pitchFamily="34" charset="0"/>
              </a:rPr>
              <a:t>Civilization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→ </a:t>
            </a:r>
            <a:r>
              <a:rPr lang="en-US" sz="2000">
                <a:solidFill>
                  <a:srgbClr val="1B2A41"/>
                </a:solidFill>
                <a:latin typeface="Consolas" panose="020B0609020204030204" pitchFamily="49" charset="0"/>
              </a:rPr>
              <a:t>civil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)</a:t>
            </a:r>
          </a:p>
          <a:p>
            <a:pPr marL="457200" indent="-457200">
              <a:spcAft>
                <a:spcPts val="11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 b="1">
                <a:solidFill>
                  <a:srgbClr val="1B2A41"/>
                </a:solidFill>
                <a:latin typeface="Calibri" panose="020F0502020204030204" pitchFamily="34" charset="0"/>
              </a:rPr>
              <a:t>identical search results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on all 12 queries</a:t>
            </a:r>
          </a:p>
          <a:p>
            <a:pPr marL="457200" indent="-457200">
              <a:spcAft>
                <a:spcPts val="11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the bigram test favours </a:t>
            </a:r>
            <a:r>
              <a:rPr lang="en-US" sz="2000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by construction (it checks the stop list </a:t>
            </a:r>
            <a:r>
              <a:rPr lang="en-US" sz="2000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removed)</a:t>
            </a:r>
            <a:endParaRPr lang="en-IN" sz="20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27CAC5-607B-67C1-34D0-16528E189E70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0144D5-3A6C-818F-6E25-4E23D89A5C97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Compare &amp; Evaluate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A20C6E-202C-78F0-753D-DB027D8050C4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16 / 26</a:t>
            </a:r>
          </a:p>
        </p:txBody>
      </p:sp>
    </p:spTree>
    <p:extLst>
      <p:ext uri="{BB962C8B-B14F-4D97-AF65-F5344CB8AC3E}">
        <p14:creationId xmlns:p14="http://schemas.microsoft.com/office/powerpoint/2010/main" val="1643633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867F20-A8B6-5098-EB35-115C0E97E4AE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2800" b="1">
                <a:solidFill>
                  <a:srgbClr val="1B2A41"/>
                </a:solidFill>
                <a:latin typeface="Calibri" panose="020F0502020204030204" pitchFamily="34" charset="0"/>
              </a:rPr>
              <a:t>Retrieval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CE90B3-84E9-8C8F-CC11-D7492FAF4DAA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Why accuracy is the wrong metric for search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3D9665-3519-E48E-DAFA-0877D6F8219F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CF86DD-6558-EA77-E0E4-10490B992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832868"/>
              </p:ext>
            </p:extLst>
          </p:nvPr>
        </p:nvGraphicFramePr>
        <p:xfrm>
          <a:off x="508000" y="1371600"/>
          <a:ext cx="5334000" cy="88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3560">
                  <a:extLst>
                    <a:ext uri="{9D8B030D-6E8A-4147-A177-3AD203B41FA5}">
                      <a16:colId xmlns:a16="http://schemas.microsoft.com/office/drawing/2014/main" val="3132836838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3507113305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3542828259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438954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Query type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F1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06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AND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0.722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0.963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D4ED8"/>
                          </a:solidFill>
                          <a:latin typeface="Calibri" panose="020F0502020204030204" pitchFamily="34" charset="0"/>
                        </a:rPr>
                        <a:t>0.798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16381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phrase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0.738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0.833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0.778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526085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keyword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0.636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0.875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0.643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1225177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OR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0.400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0.929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0.556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182709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NOT</a:t>
                      </a:r>
                    </a:p>
                  </a:txBody>
                  <a:tcPr marL="63500" marR="63500" marT="57150" marB="57150">
                    <a:lnB w="762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0.350</a:t>
                      </a:r>
                    </a:p>
                  </a:txBody>
                  <a:tcPr marL="63500" marR="63500" marT="57150" marB="57150">
                    <a:lnB w="762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0.333</a:t>
                      </a:r>
                    </a:p>
                  </a:txBody>
                  <a:tcPr marL="63500" marR="63500" marT="57150" marB="57150">
                    <a:lnB w="762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0.325</a:t>
                      </a:r>
                    </a:p>
                  </a:txBody>
                  <a:tcPr marL="63500" marR="63500" marT="57150" marB="57150">
                    <a:lnB w="762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59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All 12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0.596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0.805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0.648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1260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81EF251-441A-4FD8-DEB1-F9D0001F4C3A}"/>
              </a:ext>
            </a:extLst>
          </p:cNvPr>
          <p:cNvSpPr txBox="1"/>
          <p:nvPr/>
        </p:nvSpPr>
        <p:spPr>
          <a:xfrm>
            <a:off x="508000" y="4222750"/>
            <a:ext cx="5334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US" sz="1250">
                <a:solidFill>
                  <a:srgbClr val="5F5E59"/>
                </a:solidFill>
                <a:latin typeface="Consolas" panose="020B0609020204030204" pitchFamily="49" charset="0"/>
              </a:rPr>
              <a:t>retrieval_by_query_type.csv</a:t>
            </a:r>
            <a:r>
              <a:rPr lang="en-US" sz="1250">
                <a:solidFill>
                  <a:srgbClr val="5F5E59"/>
                </a:solidFill>
                <a:latin typeface="Calibri" panose="020F0502020204030204" pitchFamily="34" charset="0"/>
              </a:rPr>
              <a:t> (same for </a:t>
            </a:r>
            <a:r>
              <a:rPr lang="en-US" sz="1250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1250">
                <a:solidFill>
                  <a:srgbClr val="5F5E59"/>
                </a:solidFill>
                <a:latin typeface="Calibri" panose="020F0502020204030204" pitchFamily="34" charset="0"/>
              </a:rPr>
              <a:t> and </a:t>
            </a:r>
            <a:r>
              <a:rPr lang="en-US" sz="1250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1250">
                <a:solidFill>
                  <a:srgbClr val="5F5E59"/>
                </a:solidFill>
                <a:latin typeface="Calibri" panose="020F0502020204030204" pitchFamily="34" charset="0"/>
              </a:rPr>
              <a:t>)</a:t>
            </a:r>
            <a:endParaRPr lang="en-IN" sz="125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B5B1E7-49E6-416C-67E6-5410C09FB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599244"/>
              </p:ext>
            </p:extLst>
          </p:nvPr>
        </p:nvGraphicFramePr>
        <p:xfrm>
          <a:off x="6604000" y="1371600"/>
          <a:ext cx="5080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1178873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79082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94855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endParaRPr lang="en-IN" sz="1875" b="1" i="0">
                        <a:solidFill>
                          <a:srgbClr val="1B2A4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relevant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not relevant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17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retrieved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TP 48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FP 56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0543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not retrieved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FN 9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TN 523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21705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C5DA5E3-6248-4F22-5D26-FF7E65DD17EE}"/>
              </a:ext>
            </a:extLst>
          </p:cNvPr>
          <p:cNvSpPr txBox="1"/>
          <p:nvPr/>
        </p:nvSpPr>
        <p:spPr>
          <a:xfrm>
            <a:off x="6604000" y="2622550"/>
            <a:ext cx="508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IN" sz="1250">
                <a:solidFill>
                  <a:srgbClr val="5F5E59"/>
                </a:solidFill>
                <a:latin typeface="Calibri" panose="020F0502020204030204" pitchFamily="34" charset="0"/>
              </a:rPr>
              <a:t>Confusion matrix, all 636 pairs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789245-8E19-B263-43B2-37E5B28F1B76}"/>
              </a:ext>
            </a:extLst>
          </p:cNvPr>
          <p:cNvSpPr/>
          <p:nvPr/>
        </p:nvSpPr>
        <p:spPr>
          <a:xfrm>
            <a:off x="6604000" y="3067050"/>
            <a:ext cx="5080000" cy="381000"/>
          </a:xfrm>
          <a:prstGeom prst="rect">
            <a:avLst/>
          </a:prstGeom>
          <a:solidFill>
            <a:srgbClr val="A64B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r>
              <a:rPr lang="en-IN" sz="1975" b="1">
                <a:solidFill>
                  <a:srgbClr val="FFFFFF"/>
                </a:solidFill>
                <a:latin typeface="Calibri" panose="020F0502020204030204" pitchFamily="34" charset="0"/>
              </a:rPr>
              <a:t>Accuracy misleads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7F101E-E7C3-0B08-CA32-C771D9A4B5C2}"/>
              </a:ext>
            </a:extLst>
          </p:cNvPr>
          <p:cNvSpPr/>
          <p:nvPr/>
        </p:nvSpPr>
        <p:spPr>
          <a:xfrm>
            <a:off x="6604000" y="3448050"/>
            <a:ext cx="5080000" cy="1060450"/>
          </a:xfrm>
          <a:prstGeom prst="rect">
            <a:avLst/>
          </a:prstGeom>
          <a:solidFill>
            <a:srgbClr val="F8ED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t"/>
          <a:lstStyle/>
          <a:p>
            <a:pPr>
              <a:spcAft>
                <a:spcPts val="400"/>
              </a:spcAft>
            </a:pPr>
            <a:r>
              <a:rPr lang="en-US" sz="1875">
                <a:solidFill>
                  <a:srgbClr val="1B2A41"/>
                </a:solidFill>
                <a:latin typeface="Calibri" panose="020F0502020204030204" pitchFamily="34" charset="0"/>
              </a:rPr>
              <a:t>Our searcher: accuracy </a:t>
            </a:r>
            <a:r>
              <a:rPr lang="en-US" sz="1875" b="1">
                <a:solidFill>
                  <a:srgbClr val="1B2A41"/>
                </a:solidFill>
                <a:latin typeface="Calibri" panose="020F0502020204030204" pitchFamily="34" charset="0"/>
              </a:rPr>
              <a:t>0.898</a:t>
            </a:r>
            <a:r>
              <a:rPr lang="en-US" sz="1875">
                <a:solidFill>
                  <a:srgbClr val="1B2A41"/>
                </a:solidFill>
                <a:latin typeface="Calibri" panose="020F0502020204030204" pitchFamily="34" charset="0"/>
              </a:rPr>
              <a:t>. Returning </a:t>
            </a:r>
            <a:r>
              <a:rPr lang="en-US" sz="1875" i="1">
                <a:solidFill>
                  <a:srgbClr val="1B2A41"/>
                </a:solidFill>
                <a:latin typeface="Calibri" panose="020F0502020204030204" pitchFamily="34" charset="0"/>
              </a:rPr>
              <a:t>nothing</a:t>
            </a:r>
            <a:r>
              <a:rPr lang="en-US" sz="1875">
                <a:solidFill>
                  <a:srgbClr val="1B2A41"/>
                </a:solidFill>
                <a:latin typeface="Calibri" panose="020F0502020204030204" pitchFamily="34" charset="0"/>
              </a:rPr>
              <a:t>: </a:t>
            </a:r>
            <a:r>
              <a:rPr lang="en-US" sz="1875" b="1">
                <a:solidFill>
                  <a:srgbClr val="1B2A41"/>
                </a:solidFill>
                <a:latin typeface="Calibri" panose="020F0502020204030204" pitchFamily="34" charset="0"/>
              </a:rPr>
              <a:t>0.910</a:t>
            </a:r>
            <a:r>
              <a:rPr lang="en-US" sz="1875">
                <a:solidFill>
                  <a:srgbClr val="1B2A41"/>
                </a:solidFill>
                <a:latin typeface="Calibri" panose="020F0502020204030204" pitchFamily="34" charset="0"/>
              </a:rPr>
              <a:t>. Most documents are irrelevant to any query, so we report precision and recall.</a:t>
            </a:r>
            <a:endParaRPr lang="en-IN" sz="187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31550-853A-7A48-A5A0-4DC403B841F0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18AA5E-A2C7-10C2-50A9-EB684E092FFE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Compare &amp; Evaluate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08E15-4F91-12D0-1776-2255E7FB1638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17 / 26</a:t>
            </a:r>
          </a:p>
        </p:txBody>
      </p:sp>
    </p:spTree>
    <p:extLst>
      <p:ext uri="{BB962C8B-B14F-4D97-AF65-F5344CB8AC3E}">
        <p14:creationId xmlns:p14="http://schemas.microsoft.com/office/powerpoint/2010/main" val="514974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094CEB-ED4F-479A-7171-DC7DE6D1B880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2800" b="1">
                <a:solidFill>
                  <a:srgbClr val="1B2A41"/>
                </a:solidFill>
                <a:latin typeface="Calibri" panose="020F0502020204030204" pitchFamily="34" charset="0"/>
              </a:rPr>
              <a:t>Where the searcher goes wrong</a:t>
            </a:r>
            <a:endParaRPr lang="en-IN" sz="28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BD4C23-0023-867C-6F59-4BDF22809EC4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Every error classified: 9 misses, 56 false hits, same for both pipelines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42CD8F-32D7-0DC1-369E-0FAC02A68241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E78A63-F777-6A1D-1718-774B03B79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349702"/>
              </p:ext>
            </p:extLst>
          </p:nvPr>
        </p:nvGraphicFramePr>
        <p:xfrm>
          <a:off x="508000" y="1371600"/>
          <a:ext cx="5334000" cy="63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406103181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64298808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2643609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Cause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FN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FP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139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Passing mention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47161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Query formulation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366351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Wrong relevance label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0" marR="635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0" marR="63500" marT="57150" marB="57150"/>
                </a:tc>
                <a:extLst>
                  <a:ext uri="{0D108BD9-81ED-4DB2-BD59-A6C34878D82A}">
                    <a16:rowId xmlns:a16="http://schemas.microsoft.com/office/drawing/2014/main" val="2590336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Any preprocessing step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D4ED8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D4ED8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91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9F240A5-1547-D2CD-59B3-D95A16FA32AB}"/>
              </a:ext>
            </a:extLst>
          </p:cNvPr>
          <p:cNvSpPr txBox="1"/>
          <p:nvPr/>
        </p:nvSpPr>
        <p:spPr>
          <a:xfrm>
            <a:off x="508000" y="3422650"/>
            <a:ext cx="5334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IN" sz="1250">
                <a:solidFill>
                  <a:srgbClr val="5F5E59"/>
                </a:solidFill>
                <a:latin typeface="Consolas" panose="020B0609020204030204" pitchFamily="49" charset="0"/>
              </a:rPr>
              <a:t>error_analysis.csv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B1587-70DE-1B4C-3C23-F2AF7534A26A}"/>
              </a:ext>
            </a:extLst>
          </p:cNvPr>
          <p:cNvSpPr txBox="1"/>
          <p:nvPr/>
        </p:nvSpPr>
        <p:spPr>
          <a:xfrm>
            <a:off x="6350000" y="1371600"/>
            <a:ext cx="5334000" cy="232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125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 b="1">
                <a:solidFill>
                  <a:srgbClr val="1B2A41"/>
                </a:solidFill>
                <a:latin typeface="Calibri" panose="020F0502020204030204" pitchFamily="34" charset="0"/>
              </a:rPr>
              <a:t>NOT throws away answers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: </a:t>
            </a:r>
            <a:r>
              <a:rPr lang="en-US" sz="2000">
                <a:solidFill>
                  <a:srgbClr val="1B2A41"/>
                </a:solidFill>
                <a:latin typeface="Consolas" panose="020B0609020204030204" pitchFamily="49" charset="0"/>
              </a:rPr>
              <a:t>"Ash Ketchum" AND NOT Japanese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loses the </a:t>
            </a:r>
            <a:r>
              <a:rPr lang="en-US" sz="2000" i="1">
                <a:solidFill>
                  <a:srgbClr val="1B2A41"/>
                </a:solidFill>
                <a:latin typeface="Calibri" panose="020F0502020204030204" pitchFamily="34" charset="0"/>
              </a:rPr>
              <a:t>Ash Ketchum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article, which mentions his Japanese voice actress</a:t>
            </a:r>
          </a:p>
          <a:p>
            <a:pPr marL="457200" indent="-457200">
              <a:spcAft>
                <a:spcPts val="125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 b="1">
                <a:solidFill>
                  <a:srgbClr val="1B2A41"/>
                </a:solidFill>
                <a:latin typeface="Calibri" panose="020F0502020204030204" pitchFamily="34" charset="0"/>
              </a:rPr>
              <a:t>Passing mentions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: </a:t>
            </a:r>
            <a:r>
              <a:rPr lang="en-US" sz="2000">
                <a:solidFill>
                  <a:srgbClr val="1B2A41"/>
                </a:solidFill>
                <a:latin typeface="Consolas" panose="020B0609020204030204" pitchFamily="49" charset="0"/>
              </a:rPr>
              <a:t>Metroid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returns 11 documents; the 3 relevant ones rank 1–3, the rest are console histories</a:t>
            </a:r>
            <a:endParaRPr lang="en-IN" sz="20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CB54A-4203-D80B-24B9-81FB4DA3F47D}"/>
              </a:ext>
            </a:extLst>
          </p:cNvPr>
          <p:cNvSpPr txBox="1"/>
          <p:nvPr/>
        </p:nvSpPr>
        <p:spPr>
          <a:xfrm>
            <a:off x="508000" y="4419600"/>
            <a:ext cx="11176000" cy="3111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1875">
                <a:solidFill>
                  <a:srgbClr val="5F5E59"/>
                </a:solidFill>
                <a:latin typeface="Calibri" panose="020F0502020204030204" pitchFamily="34" charset="0"/>
              </a:rPr>
              <a:t>No error comes from tokenization, stemming, lemmas, stop words or NER, which is why </a:t>
            </a:r>
            <a:r>
              <a:rPr lang="en-US" sz="1875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1875">
                <a:solidFill>
                  <a:srgbClr val="5F5E59"/>
                </a:solidFill>
                <a:latin typeface="Calibri" panose="020F0502020204030204" pitchFamily="34" charset="0"/>
              </a:rPr>
              <a:t> and </a:t>
            </a:r>
            <a:r>
              <a:rPr lang="en-US" sz="1875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1875">
                <a:solidFill>
                  <a:srgbClr val="5F5E59"/>
                </a:solidFill>
                <a:latin typeface="Calibri" panose="020F0502020204030204" pitchFamily="34" charset="0"/>
              </a:rPr>
              <a:t> tie.</a:t>
            </a:r>
            <a:endParaRPr lang="en-IN" sz="1875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14C4C-315B-1BBE-1127-326C4AFAADD0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B6DA6-EE11-E936-BB47-69A121504750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Compare &amp; Evaluate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E85CA-889D-DA31-C2CB-7287F3161042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18 / 26</a:t>
            </a:r>
          </a:p>
        </p:txBody>
      </p:sp>
    </p:spTree>
    <p:extLst>
      <p:ext uri="{BB962C8B-B14F-4D97-AF65-F5344CB8AC3E}">
        <p14:creationId xmlns:p14="http://schemas.microsoft.com/office/powerpoint/2010/main" val="4163942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7D30FC-2A97-C550-2C91-8BC375BA0260}"/>
              </a:ext>
            </a:extLst>
          </p:cNvPr>
          <p:cNvSpPr txBox="1"/>
          <p:nvPr/>
        </p:nvSpPr>
        <p:spPr>
          <a:xfrm>
            <a:off x="508000" y="27940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Select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Order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Implement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Compare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5F5E59"/>
                </a:solidFill>
                <a:latin typeface="Calibri" panose="020F0502020204030204" pitchFamily="34" charset="0"/>
              </a:rPr>
              <a:t>Evaluate</a:t>
            </a:r>
            <a:r>
              <a:rPr lang="en-US" sz="2800" b="1">
                <a:solidFill>
                  <a:srgbClr val="C9CCD2"/>
                </a:solidFill>
                <a:latin typeface="Calibri" panose="020F0502020204030204" pitchFamily="34" charset="0"/>
              </a:rPr>
              <a:t>   →   </a:t>
            </a:r>
            <a:r>
              <a:rPr lang="en-US" sz="2800" b="1">
                <a:solidFill>
                  <a:srgbClr val="A64B2C"/>
                </a:solidFill>
                <a:latin typeface="Calibri" panose="020F0502020204030204" pitchFamily="34" charset="0"/>
              </a:rPr>
              <a:t>Justify</a:t>
            </a:r>
            <a:endParaRPr lang="en-IN" sz="2800" b="1">
              <a:solidFill>
                <a:srgbClr val="A64B2C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7E2FC3-9F89-3022-813A-AE3E6CAD960A}"/>
              </a:ext>
            </a:extLst>
          </p:cNvPr>
          <p:cNvSpPr txBox="1"/>
          <p:nvPr/>
        </p:nvSpPr>
        <p:spPr>
          <a:xfrm>
            <a:off x="508000" y="3619500"/>
            <a:ext cx="111760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sz="1900">
                <a:solidFill>
                  <a:srgbClr val="5F5E59"/>
                </a:solidFill>
                <a:latin typeface="Calibri" panose="020F0502020204030204" pitchFamily="34" charset="0"/>
              </a:rPr>
              <a:t>Apply the rule fixed in advance, and explain what the numbers mean</a:t>
            </a:r>
            <a:endParaRPr lang="en-IN" sz="19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368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2BE25F-1C08-97A2-9739-2323F7565DDD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2800" b="1">
                <a:solidFill>
                  <a:srgbClr val="1B2A41"/>
                </a:solidFill>
                <a:latin typeface="Calibri" panose="020F0502020204030204" pitchFamily="34" charset="0"/>
              </a:rPr>
              <a:t>Choosing the final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026D3-D071-BEC8-6729-3A65B0248C6B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A rule fixed in advance, applied in order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C4152F-1D8B-9216-4C0F-21F9E301419B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6081B39-C655-8AE7-CB99-87C26B6B6DBC}"/>
              </a:ext>
            </a:extLst>
          </p:cNvPr>
          <p:cNvSpPr txBox="1"/>
          <p:nvPr/>
        </p:nvSpPr>
        <p:spPr>
          <a:xfrm>
            <a:off x="508000" y="1397000"/>
            <a:ext cx="11176000" cy="12509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1000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 b="1">
                <a:solidFill>
                  <a:srgbClr val="1B2A41"/>
                </a:solidFill>
                <a:latin typeface="Calibri" panose="020F0502020204030204" pitchFamily="34" charset="0"/>
              </a:rPr>
              <a:t>F1 gap ≥ 0.05?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  </a:t>
            </a:r>
            <a:r>
              <a:rPr lang="en-US" sz="2125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0.648, </a:t>
            </a:r>
            <a:r>
              <a:rPr lang="en-US" sz="2125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0.648, gap 0.000 → </a:t>
            </a:r>
            <a:r>
              <a:rPr lang="en-US" sz="2125">
                <a:solidFill>
                  <a:srgbClr val="5F5E59"/>
                </a:solidFill>
                <a:latin typeface="Calibri" panose="020F0502020204030204" pitchFamily="34" charset="0"/>
              </a:rPr>
              <a:t>does not decide</a:t>
            </a:r>
          </a:p>
          <a:p>
            <a:pPr marL="457200" indent="-457200">
              <a:spcAft>
                <a:spcPts val="1000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 b="1">
                <a:solidFill>
                  <a:srgbClr val="1B2A41"/>
                </a:solidFill>
                <a:latin typeface="Calibri" panose="020F0502020204030204" pitchFamily="34" charset="0"/>
              </a:rPr>
              <a:t>Domain-term preservation gap ≥ 0.05?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  </a:t>
            </a:r>
            <a:r>
              <a:rPr lang="en-US" sz="2125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1.000, </a:t>
            </a:r>
            <a:r>
              <a:rPr lang="en-US" sz="2125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0.898, gap </a:t>
            </a:r>
            <a:r>
              <a:rPr lang="en-US" sz="2125">
                <a:solidFill>
                  <a:srgbClr val="1D4ED8"/>
                </a:solidFill>
                <a:latin typeface="Calibri" panose="020F0502020204030204" pitchFamily="34" charset="0"/>
              </a:rPr>
              <a:t>0.102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→ </a:t>
            </a:r>
            <a:r>
              <a:rPr lang="en-US" sz="2125" b="1">
                <a:solidFill>
                  <a:srgbClr val="1B2A41"/>
                </a:solidFill>
                <a:latin typeface="Calibri" panose="020F0502020204030204" pitchFamily="34" charset="0"/>
              </a:rPr>
              <a:t>decides</a:t>
            </a:r>
          </a:p>
          <a:p>
            <a:pPr marL="457200" indent="-457200">
              <a:spcAft>
                <a:spcPts val="1000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>
                <a:solidFill>
                  <a:srgbClr val="5F5E59"/>
                </a:solidFill>
                <a:latin typeface="Calibri" panose="020F0502020204030204" pitchFamily="34" charset="0"/>
              </a:rPr>
              <a:t>Meaningful-bigram rate: not reached</a:t>
            </a:r>
            <a:endParaRPr lang="en-IN" sz="2125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E54E0A-528D-897E-4E60-C53E76E933E2}"/>
              </a:ext>
            </a:extLst>
          </p:cNvPr>
          <p:cNvSpPr/>
          <p:nvPr/>
        </p:nvSpPr>
        <p:spPr>
          <a:xfrm>
            <a:off x="508000" y="2876550"/>
            <a:ext cx="11176000" cy="381000"/>
          </a:xfrm>
          <a:prstGeom prst="rect">
            <a:avLst/>
          </a:prstGeom>
          <a:solidFill>
            <a:srgbClr val="2E6B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r>
              <a:rPr lang="en-US" sz="2100" b="1">
                <a:solidFill>
                  <a:srgbClr val="FFFFFF"/>
                </a:solidFill>
                <a:latin typeface="Calibri" panose="020F0502020204030204" pitchFamily="34" charset="0"/>
              </a:rPr>
              <a:t>Final pipeline: A (annotate first, lemmas)</a:t>
            </a:r>
            <a:endParaRPr lang="en-IN" sz="21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2186AC-49A0-0CCD-3BFB-C807F80154C6}"/>
              </a:ext>
            </a:extLst>
          </p:cNvPr>
          <p:cNvSpPr/>
          <p:nvPr/>
        </p:nvSpPr>
        <p:spPr>
          <a:xfrm>
            <a:off x="508000" y="3257550"/>
            <a:ext cx="11176000" cy="1117600"/>
          </a:xfrm>
          <a:prstGeom prst="rect">
            <a:avLst/>
          </a:prstGeom>
          <a:solidFill>
            <a:srgbClr val="EEF4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t"/>
          <a:lstStyle/>
          <a:p>
            <a:pPr>
              <a:spcAft>
                <a:spcPts val="400"/>
              </a:spcAft>
            </a:pPr>
            <a:r>
              <a:rPr lang="en-US" sz="2000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is </a:t>
            </a:r>
            <a:r>
              <a:rPr lang="en-US" sz="2000" i="1">
                <a:solidFill>
                  <a:srgbClr val="1B2A41"/>
                </a:solidFill>
                <a:latin typeface="Calibri" panose="020F0502020204030204" pitchFamily="34" charset="0"/>
              </a:rPr>
              <a:t>not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chosen because it searches better; on this corpus it does not. It is chosen because, when both find the same documents, </a:t>
            </a:r>
            <a:r>
              <a:rPr lang="en-US" sz="2000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’s index represents the domain’s names faithfully: the term dictionary, postings and n-grams a person reads are real words and intact names.</a:t>
            </a:r>
            <a:endParaRPr lang="en-IN" sz="20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B7F1A-DE62-B020-FF20-92F1DEDE4DB9}"/>
              </a:ext>
            </a:extLst>
          </p:cNvPr>
          <p:cNvSpPr txBox="1"/>
          <p:nvPr/>
        </p:nvSpPr>
        <p:spPr>
          <a:xfrm>
            <a:off x="508000" y="455295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1750">
                <a:solidFill>
                  <a:srgbClr val="5F5E59"/>
                </a:solidFill>
                <a:latin typeface="Calibri" panose="020F0502020204030204" pitchFamily="34" charset="0"/>
              </a:rPr>
              <a:t>The cost of </a:t>
            </a:r>
            <a:r>
              <a:rPr lang="en-US" sz="1750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1750">
                <a:solidFill>
                  <a:srgbClr val="5F5E59"/>
                </a:solidFill>
                <a:latin typeface="Calibri" panose="020F0502020204030204" pitchFamily="34" charset="0"/>
              </a:rPr>
              <a:t>: a 29% larger index and slower indexing (spaCy tagger). Query time: a few ms for both, within run-to-run noise.</a:t>
            </a:r>
            <a:endParaRPr lang="en-IN" sz="175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4FD73A-FCDA-971D-C6CB-C0A17E95F470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91912-5409-8AFA-B3A6-7CDC6C23551F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Justify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E4E851-D315-7DD0-371C-39E69D0D5A90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19 / 26</a:t>
            </a:r>
          </a:p>
        </p:txBody>
      </p:sp>
    </p:spTree>
    <p:extLst>
      <p:ext uri="{BB962C8B-B14F-4D97-AF65-F5344CB8AC3E}">
        <p14:creationId xmlns:p14="http://schemas.microsoft.com/office/powerpoint/2010/main" val="2304582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DA486-44EC-7BD4-3F89-60235570C20E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2800" b="1">
                <a:solidFill>
                  <a:srgbClr val="1B2A41"/>
                </a:solidFill>
                <a:latin typeface="Calibri" panose="020F0502020204030204" pitchFamily="34" charset="0"/>
              </a:rPr>
              <a:t>An earlier run chose B: what we learned</a:t>
            </a:r>
            <a:endParaRPr lang="en-IN" sz="28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D1C58-0FD2-BD64-5203-EE06E22D088E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One oddly worded query decided a whole comparison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DC1156-24DE-258F-DCE7-033ACEE067C7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9490B6-80DF-B6A5-DB23-513E0A2D39B0}"/>
              </a:ext>
            </a:extLst>
          </p:cNvPr>
          <p:cNvSpPr txBox="1"/>
          <p:nvPr/>
        </p:nvSpPr>
        <p:spPr>
          <a:xfrm>
            <a:off x="508000" y="1371600"/>
            <a:ext cx="5842000" cy="210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first run: queries worded </a:t>
            </a:r>
            <a:r>
              <a:rPr lang="en-US" sz="2000">
                <a:solidFill>
                  <a:srgbClr val="1D4ED8"/>
                </a:solidFill>
                <a:latin typeface="Calibri" panose="020F0502020204030204" pitchFamily="34" charset="0"/>
              </a:rPr>
              <a:t>automatically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from each question’s first content words</a:t>
            </a:r>
          </a:p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 i="1">
                <a:solidFill>
                  <a:srgbClr val="1B2A41"/>
                </a:solidFill>
                <a:latin typeface="Calibri" panose="020F0502020204030204" pitchFamily="34" charset="0"/>
              </a:rPr>
              <a:t>“Was there a Sonic game on the Sega Genesis?”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became </a:t>
            </a:r>
            <a:r>
              <a:rPr lang="en-US" sz="2000">
                <a:solidFill>
                  <a:srgbClr val="1B2A41"/>
                </a:solidFill>
                <a:latin typeface="Consolas" panose="020B0609020204030204" pitchFamily="49" charset="0"/>
              </a:rPr>
              <a:t>"there Sonic game"</a:t>
            </a:r>
          </a:p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drops </a:t>
            </a:r>
            <a:r>
              <a:rPr lang="en-US" sz="2000" i="1">
                <a:solidFill>
                  <a:srgbClr val="1B2A41"/>
                </a:solidFill>
                <a:latin typeface="Calibri" panose="020F0502020204030204" pitchFamily="34" charset="0"/>
              </a:rPr>
              <a:t>there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as a stop word and finds the answers; </a:t>
            </a:r>
            <a:r>
              <a:rPr lang="en-US" sz="2000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 keeps it and finds nothing</a:t>
            </a:r>
            <a:endParaRPr lang="en-IN" sz="20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8ED298-D7E9-695D-E878-233CD0F81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720432"/>
              </p:ext>
            </p:extLst>
          </p:nvPr>
        </p:nvGraphicFramePr>
        <p:xfrm>
          <a:off x="6985000" y="1371600"/>
          <a:ext cx="4699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1440">
                  <a:extLst>
                    <a:ext uri="{9D8B030D-6E8A-4147-A177-3AD203B41FA5}">
                      <a16:colId xmlns:a16="http://schemas.microsoft.com/office/drawing/2014/main" val="671549655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1370921392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4186314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1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F1 (automatic wording)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A64B2C"/>
                          </a:solidFill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1" i="0">
                          <a:solidFill>
                            <a:srgbClr val="3A6676"/>
                          </a:solidFill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63500" marR="63500" marT="57150" marB="57150">
                    <a:lnT w="12700">
                      <a:solidFill>
                        <a:srgbClr val="1B2A41"/>
                      </a:solidFill>
                    </a:lnT>
                    <a:lnB w="7620">
                      <a:solidFill>
                        <a:srgbClr val="1B2A41"/>
                      </a:solidFill>
                    </a:lnB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170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all 12 queries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0.183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D4ED8"/>
                          </a:solidFill>
                          <a:latin typeface="Calibri" panose="020F0502020204030204" pitchFamily="34" charset="0"/>
                        </a:rPr>
                        <a:t>0.237</a:t>
                      </a:r>
                    </a:p>
                  </a:txBody>
                  <a:tcPr marL="63500" marR="63500" marT="57150" marB="57150">
                    <a:lnT w="7620">
                      <a:solidFill>
                        <a:srgbClr val="1B2A4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57125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without Q02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D4ED8"/>
                          </a:solidFill>
                          <a:latin typeface="Calibri" panose="020F0502020204030204" pitchFamily="34" charset="0"/>
                        </a:rPr>
                        <a:t>0.200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75" b="0" i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</a:rPr>
                        <a:t>0.176</a:t>
                      </a:r>
                    </a:p>
                  </a:txBody>
                  <a:tcPr marL="63500" marR="63500" marT="57150" marB="57150">
                    <a:lnB w="12700">
                      <a:solidFill>
                        <a:srgbClr val="1B2A4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1628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ADE9441-470F-2DEF-2FB3-E03046ED6C77}"/>
              </a:ext>
            </a:extLst>
          </p:cNvPr>
          <p:cNvSpPr txBox="1"/>
          <p:nvPr/>
        </p:nvSpPr>
        <p:spPr>
          <a:xfrm>
            <a:off x="6985000" y="2622550"/>
            <a:ext cx="4699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25"/>
              </a:spcAft>
            </a:pPr>
            <a:r>
              <a:rPr lang="en-IN" sz="1250">
                <a:solidFill>
                  <a:srgbClr val="5F5E59"/>
                </a:solidFill>
                <a:latin typeface="Calibri" panose="020F0502020204030204" pitchFamily="34" charset="0"/>
              </a:rPr>
              <a:t>reproduced exactly, 12/12 queries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3F2FAA-F71C-DDEA-6D6A-F60D0CBFF873}"/>
              </a:ext>
            </a:extLst>
          </p:cNvPr>
          <p:cNvSpPr/>
          <p:nvPr/>
        </p:nvSpPr>
        <p:spPr>
          <a:xfrm>
            <a:off x="508000" y="3708400"/>
            <a:ext cx="11176000" cy="381000"/>
          </a:xfrm>
          <a:prstGeom prst="rect">
            <a:avLst/>
          </a:prstGeom>
          <a:solidFill>
            <a:srgbClr val="1B2A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r>
              <a:rPr lang="en-US" sz="1975" b="1">
                <a:solidFill>
                  <a:srgbClr val="FFFFFF"/>
                </a:solidFill>
                <a:latin typeface="Calibri" panose="020F0502020204030204" pitchFamily="34" charset="0"/>
              </a:rPr>
              <a:t>What we did about it</a:t>
            </a:r>
            <a:endParaRPr lang="en-IN" sz="1975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9D860C-650B-4E94-563A-AB7EC1035668}"/>
              </a:ext>
            </a:extLst>
          </p:cNvPr>
          <p:cNvSpPr/>
          <p:nvPr/>
        </p:nvSpPr>
        <p:spPr>
          <a:xfrm>
            <a:off x="508000" y="4089400"/>
            <a:ext cx="11176000" cy="1060450"/>
          </a:xfrm>
          <a:prstGeom prst="rect">
            <a:avLst/>
          </a:prstGeom>
          <a:solidFill>
            <a:srgbClr val="F1F2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t"/>
          <a:lstStyle/>
          <a:p>
            <a:pPr>
              <a:spcAft>
                <a:spcPts val="400"/>
              </a:spcAft>
            </a:pPr>
            <a:r>
              <a:rPr lang="en-US" sz="1875">
                <a:solidFill>
                  <a:srgbClr val="1B2A41"/>
                </a:solidFill>
                <a:latin typeface="Calibri" panose="020F0502020204030204" pitchFamily="34" charset="0"/>
              </a:rPr>
              <a:t>Queries rewritten by hand under a stated rule, </a:t>
            </a:r>
            <a:r>
              <a:rPr lang="en-US" sz="1875" i="1">
                <a:solidFill>
                  <a:srgbClr val="1B2A41"/>
                </a:solidFill>
                <a:latin typeface="Calibri" panose="020F0502020204030204" pitchFamily="34" charset="0"/>
              </a:rPr>
              <a:t>before</a:t>
            </a:r>
            <a:r>
              <a:rPr lang="en-US" sz="1875">
                <a:solidFill>
                  <a:srgbClr val="1B2A41"/>
                </a:solidFill>
                <a:latin typeface="Calibri" panose="020F0502020204030204" pitchFamily="34" charset="0"/>
              </a:rPr>
              <a:t> any new result existed; the amendment is dated and both runs are reported. </a:t>
            </a:r>
            <a:r>
              <a:rPr lang="en-US" sz="1875" b="1">
                <a:solidFill>
                  <a:srgbClr val="1B2A41"/>
                </a:solidFill>
                <a:latin typeface="Calibri" panose="020F0502020204030204" pitchFamily="34" charset="0"/>
              </a:rPr>
              <a:t>Finding:</a:t>
            </a:r>
            <a:r>
              <a:rPr lang="en-US" sz="1875">
                <a:solidFill>
                  <a:srgbClr val="1B2A41"/>
                </a:solidFill>
                <a:latin typeface="Calibri" panose="020F0502020204030204" pitchFamily="34" charset="0"/>
              </a:rPr>
              <a:t> differences between the pipelines come from stop words and inflections in the </a:t>
            </a:r>
            <a:r>
              <a:rPr lang="en-US" sz="1875" i="1">
                <a:solidFill>
                  <a:srgbClr val="1B2A41"/>
                </a:solidFill>
                <a:latin typeface="Calibri" panose="020F0502020204030204" pitchFamily="34" charset="0"/>
              </a:rPr>
              <a:t>query wording</a:t>
            </a:r>
            <a:r>
              <a:rPr lang="en-US" sz="1875">
                <a:solidFill>
                  <a:srgbClr val="1B2A41"/>
                </a:solidFill>
                <a:latin typeface="Calibri" panose="020F0502020204030204" pitchFamily="34" charset="0"/>
              </a:rPr>
              <a:t>, not from how they handle domain content.</a:t>
            </a:r>
            <a:endParaRPr lang="en-IN" sz="187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AB4D7D-61CC-A06A-FEC4-FF7FBCA8F3DD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739EE4-F350-B173-3079-5549705E57BE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Justify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0C44D-E830-D0C4-8413-B8DDE8981041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20 / 26</a:t>
            </a:r>
          </a:p>
        </p:txBody>
      </p:sp>
    </p:spTree>
    <p:extLst>
      <p:ext uri="{BB962C8B-B14F-4D97-AF65-F5344CB8AC3E}">
        <p14:creationId xmlns:p14="http://schemas.microsoft.com/office/powerpoint/2010/main" val="1017774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49B0F0-72F0-71AE-0599-F9FCD41CA58B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2800" b="1">
                <a:solidFill>
                  <a:srgbClr val="1B2A41"/>
                </a:solidFill>
                <a:latin typeface="Calibri" panose="020F0502020204030204" pitchFamily="34" charset="0"/>
              </a:rPr>
              <a:t>Why the pipelines agree, and the design lesson</a:t>
            </a:r>
            <a:endParaRPr lang="en-IN" sz="28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841DE4-1DEA-C561-8DC0-FFC52CEF184A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F03F15A-5AC9-3A8C-3CB8-2336414FB19E}"/>
              </a:ext>
            </a:extLst>
          </p:cNvPr>
          <p:cNvSpPr txBox="1"/>
          <p:nvPr/>
        </p:nvSpPr>
        <p:spPr>
          <a:xfrm>
            <a:off x="508000" y="1371600"/>
            <a:ext cx="5588000" cy="3492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IN" sz="2125" b="1">
                <a:solidFill>
                  <a:srgbClr val="1B2A41"/>
                </a:solidFill>
                <a:latin typeface="Calibri" panose="020F0502020204030204" pitchFamily="34" charset="0"/>
              </a:rPr>
              <a:t>Why they tie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60B0F-8CB7-91BD-0265-A9CCBF38090C}"/>
              </a:ext>
            </a:extLst>
          </p:cNvPr>
          <p:cNvSpPr txBox="1"/>
          <p:nvPr/>
        </p:nvSpPr>
        <p:spPr>
          <a:xfrm>
            <a:off x="508000" y="1771650"/>
            <a:ext cx="5588000" cy="2222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both share the component that matters most: the </a:t>
            </a:r>
            <a:r>
              <a:rPr lang="en-US" sz="2125">
                <a:solidFill>
                  <a:srgbClr val="1D4ED8"/>
                </a:solidFill>
                <a:latin typeface="Calibri" panose="020F0502020204030204" pitchFamily="34" charset="0"/>
              </a:rPr>
              <a:t>name-merging tokenizer</a:t>
            </a:r>
          </a:p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our queries are about names; </a:t>
            </a:r>
            <a:r>
              <a:rPr lang="en-US" sz="2125">
                <a:solidFill>
                  <a:srgbClr val="1B2A41"/>
                </a:solidFill>
                <a:latin typeface="Consolas" panose="020B0609020204030204" pitchFamily="49" charset="0"/>
              </a:rPr>
              <a:t>tomb_raider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is never stemmed or lemmatized</a:t>
            </a:r>
          </a:p>
          <a:p>
            <a:pPr marL="457200" indent="-457200">
              <a:spcAft>
                <a:spcPts val="1000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125" b="1">
                <a:solidFill>
                  <a:srgbClr val="A64B2C"/>
                </a:solidFill>
                <a:latin typeface="Calibri" panose="020F0502020204030204" pitchFamily="34" charset="0"/>
              </a:rPr>
              <a:t>A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and </a:t>
            </a:r>
            <a:r>
              <a:rPr lang="en-US" sz="2125" b="1">
                <a:solidFill>
                  <a:srgbClr val="3A6676"/>
                </a:solidFill>
                <a:latin typeface="Calibri" panose="020F0502020204030204" pitchFamily="34" charset="0"/>
              </a:rPr>
              <a:t>B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differ on verb endings and function words, which the queries never touch</a:t>
            </a:r>
            <a:endParaRPr lang="en-IN" sz="212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91885A-E0C0-F54C-9C6F-D31DCC19A47F}"/>
              </a:ext>
            </a:extLst>
          </p:cNvPr>
          <p:cNvSpPr/>
          <p:nvPr/>
        </p:nvSpPr>
        <p:spPr>
          <a:xfrm>
            <a:off x="6477000" y="1371600"/>
            <a:ext cx="5207000" cy="381000"/>
          </a:xfrm>
          <a:prstGeom prst="rect">
            <a:avLst/>
          </a:prstGeom>
          <a:solidFill>
            <a:srgbClr val="2E6B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bIns="25400" rtlCol="0" anchor="ctr"/>
          <a:lstStyle/>
          <a:p>
            <a:r>
              <a:rPr lang="en-IN" sz="2100" b="1">
                <a:solidFill>
                  <a:srgbClr val="FFFFFF"/>
                </a:solidFill>
                <a:latin typeface="Calibri" panose="020F0502020204030204" pitchFamily="34" charset="0"/>
              </a:rPr>
              <a:t>Design lesson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80A6A-4D40-6915-DBD9-14CC4A3EDDAC}"/>
              </a:ext>
            </a:extLst>
          </p:cNvPr>
          <p:cNvSpPr/>
          <p:nvPr/>
        </p:nvSpPr>
        <p:spPr>
          <a:xfrm>
            <a:off x="6477000" y="1752600"/>
            <a:ext cx="5207000" cy="1422400"/>
          </a:xfrm>
          <a:prstGeom prst="rect">
            <a:avLst/>
          </a:prstGeom>
          <a:solidFill>
            <a:srgbClr val="EEF4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t"/>
          <a:lstStyle/>
          <a:p>
            <a:pPr>
              <a:spcAft>
                <a:spcPts val="400"/>
              </a:spcAft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On an entity-heavy domain, the decisive preprocessing choice is the </a:t>
            </a:r>
            <a:r>
              <a:rPr lang="en-US" sz="2000" b="1">
                <a:solidFill>
                  <a:srgbClr val="1B2A41"/>
                </a:solidFill>
                <a:latin typeface="Calibri" panose="020F0502020204030204" pitchFamily="34" charset="0"/>
              </a:rPr>
              <a:t>domain-aware tokenizer and lexicon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, not stemming vs lemmatization.</a:t>
            </a:r>
            <a:endParaRPr lang="en-IN" sz="20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A00-B17E-41B3-EFC8-A0A4D7283EA2}"/>
              </a:ext>
            </a:extLst>
          </p:cNvPr>
          <p:cNvSpPr txBox="1"/>
          <p:nvPr/>
        </p:nvSpPr>
        <p:spPr>
          <a:xfrm>
            <a:off x="6477000" y="3327400"/>
            <a:ext cx="5207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1750">
                <a:solidFill>
                  <a:srgbClr val="5F5E59"/>
                </a:solidFill>
                <a:latin typeface="Calibri" panose="020F0502020204030204" pitchFamily="34" charset="0"/>
              </a:rPr>
              <a:t>Consistent with Brin and Page (1998), who launched without stemming. Exploratory: no pipeline was run without name merging.</a:t>
            </a:r>
            <a:endParaRPr lang="en-IN" sz="175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8B697D-C165-936A-B61A-63BBB77F9344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87CAA-4E15-CB8B-868B-81FD814C1F63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Justify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3F3B2-496D-D007-B3E0-FE11F3B6B4D4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21 / 26</a:t>
            </a:r>
          </a:p>
        </p:txBody>
      </p:sp>
    </p:spTree>
    <p:extLst>
      <p:ext uri="{BB962C8B-B14F-4D97-AF65-F5344CB8AC3E}">
        <p14:creationId xmlns:p14="http://schemas.microsoft.com/office/powerpoint/2010/main" val="1540033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87A618-A79F-7633-2091-42BE326B2926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2800" b="1">
                <a:solidFill>
                  <a:srgbClr val="1B2A41"/>
                </a:solidFill>
                <a:latin typeface="Calibri" panose="020F0502020204030204" pitchFamily="34" charset="0"/>
              </a:rPr>
              <a:t>The GUI: a working searcher with an X-ray</a:t>
            </a:r>
            <a:endParaRPr lang="en-IN" sz="28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8812D-DC71-4B4A-EF67-A6A3F6ED54EB}"/>
              </a:ext>
            </a:extLst>
          </p:cNvPr>
          <p:cNvSpPr txBox="1"/>
          <p:nvPr/>
        </p:nvSpPr>
        <p:spPr>
          <a:xfrm>
            <a:off x="508000" y="762000"/>
            <a:ext cx="11176000" cy="269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600">
                <a:solidFill>
                  <a:srgbClr val="5F5E59"/>
                </a:solidFill>
                <a:latin typeface="Calibri" panose="020F0502020204030204" pitchFamily="34" charset="0"/>
              </a:rPr>
              <a:t>9 tabs covering all 15 required functions</a:t>
            </a:r>
            <a:endParaRPr lang="en-IN" sz="16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7BBB405-D389-3A6D-7B79-27F77C964302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AF95F5D-179A-2BC6-769B-2B68BEAE09CF}"/>
              </a:ext>
            </a:extLst>
          </p:cNvPr>
          <p:cNvSpPr txBox="1"/>
          <p:nvPr/>
        </p:nvSpPr>
        <p:spPr>
          <a:xfrm>
            <a:off x="508000" y="1346200"/>
            <a:ext cx="4191000" cy="307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342900" indent="-3429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1750" b="1">
                <a:solidFill>
                  <a:srgbClr val="1B2A41"/>
                </a:solidFill>
                <a:latin typeface="Calibri" panose="020F0502020204030204" pitchFamily="34" charset="0"/>
              </a:rPr>
              <a:t>Search</a:t>
            </a:r>
            <a:r>
              <a:rPr lang="en-US" sz="1750">
                <a:solidFill>
                  <a:srgbClr val="1B2A41"/>
                </a:solidFill>
                <a:latin typeface="Calibri" panose="020F0502020204030204" pitchFamily="34" charset="0"/>
              </a:rPr>
              <a:t>: Boolean query, type, pipeline; ranked results, time, P / R / F1</a:t>
            </a:r>
          </a:p>
          <a:p>
            <a:pPr marL="342900" indent="-3429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1750" b="1">
                <a:solidFill>
                  <a:srgbClr val="1B2A41"/>
                </a:solidFill>
                <a:latin typeface="Calibri" panose="020F0502020204030204" pitchFamily="34" charset="0"/>
              </a:rPr>
              <a:t>Compare A vs B</a:t>
            </a:r>
            <a:r>
              <a:rPr lang="en-US" sz="1750">
                <a:solidFill>
                  <a:srgbClr val="1B2A41"/>
                </a:solidFill>
                <a:latin typeface="Calibri" panose="020F0502020204030204" pitchFamily="34" charset="0"/>
              </a:rPr>
              <a:t>: side by side, with a diff</a:t>
            </a:r>
          </a:p>
          <a:p>
            <a:pPr marL="342900" indent="-3429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1750" b="1">
                <a:solidFill>
                  <a:srgbClr val="1B2A41"/>
                </a:solidFill>
                <a:latin typeface="Calibri" panose="020F0502020204030204" pitchFamily="34" charset="0"/>
              </a:rPr>
              <a:t>Pipeline trace</a:t>
            </a:r>
            <a:r>
              <a:rPr lang="en-US" sz="1750">
                <a:solidFill>
                  <a:srgbClr val="1B2A41"/>
                </a:solidFill>
                <a:latin typeface="Calibri" panose="020F0502020204030204" pitchFamily="34" charset="0"/>
              </a:rPr>
              <a:t>: any sentence, stage by stage, timed</a:t>
            </a:r>
          </a:p>
          <a:p>
            <a:pPr marL="342900" indent="-3429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1750" b="1">
                <a:solidFill>
                  <a:srgbClr val="1B2A41"/>
                </a:solidFill>
                <a:latin typeface="Calibri" panose="020F0502020204030204" pitchFamily="34" charset="0"/>
              </a:rPr>
              <a:t>Corpus</a:t>
            </a:r>
            <a:r>
              <a:rPr lang="en-US" sz="1750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1750" b="1">
                <a:solidFill>
                  <a:srgbClr val="1B2A41"/>
                </a:solidFill>
                <a:latin typeface="Calibri" panose="020F0502020204030204" pitchFamily="34" charset="0"/>
              </a:rPr>
              <a:t>Tokenization</a:t>
            </a:r>
            <a:r>
              <a:rPr lang="en-US" sz="1750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1750" b="1">
                <a:solidFill>
                  <a:srgbClr val="1B2A41"/>
                </a:solidFill>
                <a:latin typeface="Calibri" panose="020F0502020204030204" pitchFamily="34" charset="0"/>
              </a:rPr>
              <a:t>POS &amp; NER</a:t>
            </a:r>
            <a:r>
              <a:rPr lang="en-US" sz="1750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1750" b="1">
                <a:solidFill>
                  <a:srgbClr val="1B2A41"/>
                </a:solidFill>
                <a:latin typeface="Calibri" panose="020F0502020204030204" pitchFamily="34" charset="0"/>
              </a:rPr>
              <a:t>N-grams</a:t>
            </a:r>
          </a:p>
          <a:p>
            <a:pPr marL="342900" indent="-3429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1750" b="1">
                <a:solidFill>
                  <a:srgbClr val="1B2A41"/>
                </a:solidFill>
                <a:latin typeface="Calibri" panose="020F0502020204030204" pitchFamily="34" charset="0"/>
              </a:rPr>
              <a:t>Index</a:t>
            </a:r>
            <a:r>
              <a:rPr lang="en-US" sz="1750">
                <a:solidFill>
                  <a:srgbClr val="1B2A41"/>
                </a:solidFill>
                <a:latin typeface="Calibri" panose="020F0502020204030204" pitchFamily="34" charset="0"/>
              </a:rPr>
              <a:t>: postings with positions and context</a:t>
            </a:r>
          </a:p>
          <a:p>
            <a:pPr marL="342900" indent="-342900">
              <a:spcAft>
                <a:spcPts val="62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1750" b="1">
                <a:solidFill>
                  <a:srgbClr val="1B2A41"/>
                </a:solidFill>
                <a:latin typeface="Calibri" panose="020F0502020204030204" pitchFamily="34" charset="0"/>
              </a:rPr>
              <a:t>Evaluation</a:t>
            </a:r>
            <a:r>
              <a:rPr lang="en-US" sz="1750">
                <a:solidFill>
                  <a:srgbClr val="1B2A41"/>
                </a:solidFill>
                <a:latin typeface="Calibri" panose="020F0502020204030204" pitchFamily="34" charset="0"/>
              </a:rPr>
              <a:t>: the decision and every number</a:t>
            </a:r>
            <a:endParaRPr lang="en-IN" sz="175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D960E-6921-FA68-0703-4483374AE865}"/>
              </a:ext>
            </a:extLst>
          </p:cNvPr>
          <p:cNvSpPr txBox="1"/>
          <p:nvPr/>
        </p:nvSpPr>
        <p:spPr>
          <a:xfrm>
            <a:off x="508000" y="4521200"/>
            <a:ext cx="4191000" cy="6828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1438">
                <a:solidFill>
                  <a:srgbClr val="5F5E59"/>
                </a:solidFill>
                <a:latin typeface="Calibri" panose="020F0502020204030204" pitchFamily="34" charset="0"/>
              </a:rPr>
              <a:t>Every button calls the same pipelines and index as the report. Right: Search on Q03 with timing, precision, recall and the judged-relevant column.</a:t>
            </a:r>
            <a:endParaRPr lang="en-IN" sz="1438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D6A3E5-20E3-6FF5-E66C-761A9597A85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1346200"/>
            <a:ext cx="6604000" cy="4235847"/>
          </a:xfrm>
          <a:prstGeom prst="rect">
            <a:avLst/>
          </a:prstGeom>
          <a:ln w="9525">
            <a:solidFill>
              <a:srgbClr val="D9D6CF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C74D2F-F92A-B8F0-F839-EDC11E166DFE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0E1188-69B3-C2DC-6865-43A3EC3A19BB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Demonstration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A4BE4-21FF-95B3-4808-D2B08A78C5CF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22 / 26</a:t>
            </a:r>
          </a:p>
        </p:txBody>
      </p:sp>
    </p:spTree>
    <p:extLst>
      <p:ext uri="{BB962C8B-B14F-4D97-AF65-F5344CB8AC3E}">
        <p14:creationId xmlns:p14="http://schemas.microsoft.com/office/powerpoint/2010/main" val="3256723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6EEE70-DE6D-5CE1-53C4-A128FF0840EA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2800" b="1">
                <a:solidFill>
                  <a:srgbClr val="1B2A41"/>
                </a:solidFill>
                <a:latin typeface="Calibri" panose="020F0502020204030204" pitchFamily="34" charset="0"/>
              </a:rPr>
              <a:t>Limitations and next steps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CC80F8-223F-9E9A-00EB-E44075ECECA7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11F4E4A-F511-AEB2-A6E6-C0653C46BBA8}"/>
              </a:ext>
            </a:extLst>
          </p:cNvPr>
          <p:cNvSpPr txBox="1"/>
          <p:nvPr/>
        </p:nvSpPr>
        <p:spPr>
          <a:xfrm>
            <a:off x="508000" y="1371600"/>
            <a:ext cx="5461000" cy="3492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IN" sz="2125" b="1">
                <a:solidFill>
                  <a:srgbClr val="1B2A41"/>
                </a:solidFill>
                <a:latin typeface="Calibri" panose="020F0502020204030204" pitchFamily="34" charset="0"/>
              </a:rPr>
              <a:t>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3EAE9-5D1F-BB48-3F05-FD4D1D84239F}"/>
              </a:ext>
            </a:extLst>
          </p:cNvPr>
          <p:cNvSpPr txBox="1"/>
          <p:nvPr/>
        </p:nvSpPr>
        <p:spPr>
          <a:xfrm>
            <a:off x="508000" y="1771650"/>
            <a:ext cx="5461000" cy="2197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87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relevance labels: 2 reviewers, no agreement measure, ≥ 5 labels look wrong (Voorhees 2000)</a:t>
            </a:r>
          </a:p>
          <a:p>
            <a:pPr marL="457200" indent="-457200">
              <a:spcAft>
                <a:spcPts val="87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12 queries: too few for significance tests</a:t>
            </a:r>
          </a:p>
          <a:p>
            <a:pPr marL="457200" indent="-457200">
              <a:spcAft>
                <a:spcPts val="87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corpus built around its queries: absolute scores optimistic, A vs B unaffected</a:t>
            </a:r>
          </a:p>
          <a:p>
            <a:pPr marL="457200" indent="-457200">
              <a:spcAft>
                <a:spcPts val="87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lexicon of 128 names: unknown games still split</a:t>
            </a:r>
            <a:endParaRPr lang="en-IN" sz="20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24C05-2DD5-C70E-1925-72016F454BED}"/>
              </a:ext>
            </a:extLst>
          </p:cNvPr>
          <p:cNvSpPr txBox="1"/>
          <p:nvPr/>
        </p:nvSpPr>
        <p:spPr>
          <a:xfrm>
            <a:off x="6350000" y="1371600"/>
            <a:ext cx="5334000" cy="3492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IN" sz="2125" b="1">
                <a:solidFill>
                  <a:srgbClr val="1B2A41"/>
                </a:solidFill>
                <a:latin typeface="Calibri" panose="020F0502020204030204" pitchFamily="34" charset="0"/>
              </a:rPr>
              <a:t>Next steps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6232E-415F-EAD3-E425-206441671556}"/>
              </a:ext>
            </a:extLst>
          </p:cNvPr>
          <p:cNvSpPr txBox="1"/>
          <p:nvPr/>
        </p:nvSpPr>
        <p:spPr>
          <a:xfrm>
            <a:off x="6350000" y="1771650"/>
            <a:ext cx="5334000" cy="292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87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blind relevance judging, more annotators</a:t>
            </a:r>
          </a:p>
          <a:p>
            <a:pPr marL="457200" indent="-457200">
              <a:spcAft>
                <a:spcPts val="87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72 eligible questions; wordy queries to separate H2–H4</a:t>
            </a:r>
          </a:p>
          <a:p>
            <a:pPr marL="457200" indent="-457200">
              <a:spcAft>
                <a:spcPts val="87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one-component-at-a-time ablation with a paired test</a:t>
            </a:r>
          </a:p>
          <a:p>
            <a:pPr marL="457200" indent="-457200">
              <a:spcAft>
                <a:spcPts val="87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grow the lexicon from frequent n-grams (</a:t>
            </a:r>
            <a:r>
              <a:rPr lang="en-US" sz="2000" i="1">
                <a:solidFill>
                  <a:srgbClr val="1B2A41"/>
                </a:solidFill>
                <a:latin typeface="Calibri" panose="020F0502020204030204" pitchFamily="34" charset="0"/>
              </a:rPr>
              <a:t>smash bros</a:t>
            </a: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); BM25 ranking</a:t>
            </a:r>
          </a:p>
          <a:p>
            <a:pPr marL="457200" indent="-457200">
              <a:spcAft>
                <a:spcPts val="875"/>
              </a:spcAft>
              <a:buClr>
                <a:srgbClr val="1B2A41"/>
              </a:buClr>
              <a:buSzPct val="75000"/>
              <a:buFont typeface="+mj-lt"/>
              <a:buChar char="▸"/>
            </a:pPr>
            <a:r>
              <a:rPr lang="en-US" sz="2000">
                <a:solidFill>
                  <a:srgbClr val="1B2A41"/>
                </a:solidFill>
                <a:latin typeface="Calibri" panose="020F0502020204030204" pitchFamily="34" charset="0"/>
              </a:rPr>
              <a:t>a small knowledge graph from NER output</a:t>
            </a:r>
            <a:endParaRPr lang="en-IN" sz="20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DFB41-5F13-6C4D-EE45-776BC2D84211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18FAE-B001-CB84-F818-FE599EB81FF6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A6DE17-97C1-60FA-D9A0-7906BE4EE727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23 / 26</a:t>
            </a:r>
          </a:p>
        </p:txBody>
      </p:sp>
    </p:spTree>
    <p:extLst>
      <p:ext uri="{BB962C8B-B14F-4D97-AF65-F5344CB8AC3E}">
        <p14:creationId xmlns:p14="http://schemas.microsoft.com/office/powerpoint/2010/main" val="2841421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15AD32-209D-8B76-B505-8814C683A870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2800" b="1">
                <a:solidFill>
                  <a:srgbClr val="1B2A41"/>
                </a:solidFill>
                <a:latin typeface="Calibri" panose="020F0502020204030204" pitchFamily="34" charset="0"/>
              </a:rPr>
              <a:t>Conclusion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714757-69DC-A30B-5642-415CBBCC2512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12158BC-C3FF-E9C5-5C6D-9CEA70F2EFD8}"/>
              </a:ext>
            </a:extLst>
          </p:cNvPr>
          <p:cNvSpPr txBox="1"/>
          <p:nvPr/>
        </p:nvSpPr>
        <p:spPr>
          <a:xfrm>
            <a:off x="508000" y="1397000"/>
            <a:ext cx="11176000" cy="28511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57200" indent="-457200">
              <a:spcAft>
                <a:spcPts val="1125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 b="1">
                <a:solidFill>
                  <a:srgbClr val="1B2A41"/>
                </a:solidFill>
                <a:latin typeface="Calibri" panose="020F0502020204030204" pitchFamily="34" charset="0"/>
              </a:rPr>
              <a:t>The tokenizer matters most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: only a domain-aware tokenizer keeps names intact (91/91 vs 0/91).</a:t>
            </a:r>
          </a:p>
          <a:p>
            <a:pPr marL="457200" indent="-457200">
              <a:spcAft>
                <a:spcPts val="1125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 b="1">
                <a:solidFill>
                  <a:srgbClr val="1B2A41"/>
                </a:solidFill>
                <a:latin typeface="Calibri" panose="020F0502020204030204" pitchFamily="34" charset="0"/>
              </a:rPr>
              <a:t>Order is visible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: stem before stop-word removal and </a:t>
            </a:r>
            <a:r>
              <a:rPr lang="en-US" sz="2125">
                <a:solidFill>
                  <a:srgbClr val="1B2A41"/>
                </a:solidFill>
                <a:latin typeface="Consolas" panose="020B0609020204030204" pitchFamily="49" charset="0"/>
              </a:rPr>
              <a:t>thi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2125">
                <a:solidFill>
                  <a:srgbClr val="1B2A41"/>
                </a:solidFill>
                <a:latin typeface="Consolas" panose="020B0609020204030204" pitchFamily="49" charset="0"/>
              </a:rPr>
              <a:t>wa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, </a:t>
            </a:r>
            <a:r>
              <a:rPr lang="en-US" sz="2125">
                <a:solidFill>
                  <a:srgbClr val="1B2A41"/>
                </a:solidFill>
                <a:latin typeface="Consolas" panose="020B0609020204030204" pitchFamily="49" charset="0"/>
              </a:rPr>
              <a:t>ha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leak; tag before lowercasing or proper nouns get lemmatized.</a:t>
            </a:r>
          </a:p>
          <a:p>
            <a:pPr marL="457200" indent="-457200">
              <a:spcAft>
                <a:spcPts val="1125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 b="1">
                <a:solidFill>
                  <a:srgbClr val="1B2A41"/>
                </a:solidFill>
                <a:latin typeface="Calibri" panose="020F0502020204030204" pitchFamily="34" charset="0"/>
              </a:rPr>
              <a:t>General models miss the domain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: an EntityRuler lifts NER F1 from 0.563 to 0.744.</a:t>
            </a:r>
          </a:p>
          <a:p>
            <a:pPr marL="457200" indent="-457200">
              <a:spcAft>
                <a:spcPts val="1125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 b="1">
                <a:solidFill>
                  <a:srgbClr val="1B2A41"/>
                </a:solidFill>
                <a:latin typeface="Calibri" panose="020F0502020204030204" pitchFamily="34" charset="0"/>
              </a:rPr>
              <a:t>Both pipelines search identically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(P 0.596, R 0.805, F1 0.648); the preregistered rule selects </a:t>
            </a:r>
            <a:r>
              <a:rPr lang="en-US" sz="2125">
                <a:solidFill>
                  <a:srgbClr val="1D4ED8"/>
                </a:solidFill>
                <a:latin typeface="Calibri" panose="020F0502020204030204" pitchFamily="34" charset="0"/>
              </a:rPr>
              <a:t>Pipeline A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 on name preservation.</a:t>
            </a:r>
          </a:p>
          <a:p>
            <a:pPr marL="457200" indent="-457200">
              <a:spcAft>
                <a:spcPts val="1125"/>
              </a:spcAft>
              <a:buClr>
                <a:srgbClr val="1B2A41"/>
              </a:buClr>
              <a:buFont typeface="+mj-lt"/>
              <a:buAutoNum type="arabicPeriod"/>
            </a:pPr>
            <a:r>
              <a:rPr lang="en-US" sz="2125" b="1">
                <a:solidFill>
                  <a:srgbClr val="1B2A41"/>
                </a:solidFill>
                <a:latin typeface="Calibri" panose="020F0502020204030204" pitchFamily="34" charset="0"/>
              </a:rPr>
              <a:t>Accuracy misleads</a:t>
            </a:r>
            <a:r>
              <a:rPr lang="en-US" sz="2125">
                <a:solidFill>
                  <a:srgbClr val="1B2A41"/>
                </a:solidFill>
                <a:latin typeface="Calibri" panose="020F0502020204030204" pitchFamily="34" charset="0"/>
              </a:rPr>
              <a:t>: 0.898 for our searcher, 0.910 for returning nothing.</a:t>
            </a:r>
            <a:endParaRPr lang="en-IN" sz="2125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81C62-3D43-128F-A908-31B6DE9ED9D7}"/>
              </a:ext>
            </a:extLst>
          </p:cNvPr>
          <p:cNvSpPr txBox="1"/>
          <p:nvPr/>
        </p:nvSpPr>
        <p:spPr>
          <a:xfrm>
            <a:off x="508000" y="4451350"/>
            <a:ext cx="1117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25"/>
              </a:spcAft>
            </a:pPr>
            <a:r>
              <a:rPr lang="en-US" sz="1750">
                <a:solidFill>
                  <a:srgbClr val="5F5E59"/>
                </a:solidFill>
                <a:latin typeface="Calibri" panose="020F0502020204030204" pitchFamily="34" charset="0"/>
              </a:rPr>
              <a:t>All search results are preliminary until the relevance labels are re-judged by more annotators.</a:t>
            </a:r>
            <a:endParaRPr lang="en-IN" sz="175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4C5DD-2E2F-1797-FE9C-6EB7372EF752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76E42C-5F07-075D-A42F-8272403E809B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5B475-8788-F175-E6C2-28E3D3BC30BA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24 / 26</a:t>
            </a:r>
          </a:p>
        </p:txBody>
      </p:sp>
    </p:spTree>
    <p:extLst>
      <p:ext uri="{BB962C8B-B14F-4D97-AF65-F5344CB8AC3E}">
        <p14:creationId xmlns:p14="http://schemas.microsoft.com/office/powerpoint/2010/main" val="2410938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EF961B-5DD8-4AC3-DC47-BF4DB034FBF9}"/>
              </a:ext>
            </a:extLst>
          </p:cNvPr>
          <p:cNvSpPr txBox="1"/>
          <p:nvPr/>
        </p:nvSpPr>
        <p:spPr>
          <a:xfrm>
            <a:off x="508000" y="304800"/>
            <a:ext cx="111760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2800" b="1">
                <a:solidFill>
                  <a:srgbClr val="1B2A41"/>
                </a:solidFill>
                <a:latin typeface="Calibri" panose="020F0502020204030204" pitchFamily="34" charset="0"/>
              </a:rPr>
              <a:t>References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6905F6-CE8D-6AEC-CFD1-0094BF447EC7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9525">
            <a:solidFill>
              <a:srgbClr val="D9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D150DAF-CD26-72BF-8056-D04E5860970A}"/>
              </a:ext>
            </a:extLst>
          </p:cNvPr>
          <p:cNvSpPr txBox="1"/>
          <p:nvPr/>
        </p:nvSpPr>
        <p:spPr>
          <a:xfrm>
            <a:off x="508000" y="1346200"/>
            <a:ext cx="11176000" cy="30517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50"/>
              </a:spcAft>
            </a:pP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Brin, S. &amp; Page, L. (1998). The Anatomy of a Large-Scale Hypertextual Web Search Engine. </a:t>
            </a:r>
            <a:r>
              <a:rPr lang="en-IN" sz="1688" i="1">
                <a:solidFill>
                  <a:srgbClr val="1B2A41"/>
                </a:solidFill>
                <a:latin typeface="Calibri" panose="020F0502020204030204" pitchFamily="34" charset="0"/>
              </a:rPr>
              <a:t>WWW7</a:t>
            </a: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Manning, C. D., Raghavan, P. &amp; Schütze, H. (2008). </a:t>
            </a:r>
            <a:r>
              <a:rPr lang="en-IN" sz="1688" i="1">
                <a:solidFill>
                  <a:srgbClr val="1B2A41"/>
                </a:solidFill>
                <a:latin typeface="Calibri" panose="020F0502020204030204" pitchFamily="34" charset="0"/>
              </a:rPr>
              <a:t>Introduction to Information Retrieval</a:t>
            </a: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. Cambridge University Press.</a:t>
            </a:r>
          </a:p>
          <a:p>
            <a:pPr>
              <a:spcAft>
                <a:spcPts val="750"/>
              </a:spcAft>
            </a:pP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Paice, C. D. (1990). Another Stemmer. </a:t>
            </a:r>
            <a:r>
              <a:rPr lang="en-IN" sz="1688" i="1">
                <a:solidFill>
                  <a:srgbClr val="1B2A41"/>
                </a:solidFill>
                <a:latin typeface="Calibri" panose="020F0502020204030204" pitchFamily="34" charset="0"/>
              </a:rPr>
              <a:t>ACM SIGIR Forum</a:t>
            </a: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 24(3), 56–61.</a:t>
            </a:r>
          </a:p>
          <a:p>
            <a:pPr>
              <a:spcAft>
                <a:spcPts val="750"/>
              </a:spcAft>
            </a:pP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Paice, C. D. (1994). An Evaluation Method for Stemming Algorithms. </a:t>
            </a:r>
            <a:r>
              <a:rPr lang="en-IN" sz="1688" i="1">
                <a:solidFill>
                  <a:srgbClr val="1B2A41"/>
                </a:solidFill>
                <a:latin typeface="Calibri" panose="020F0502020204030204" pitchFamily="34" charset="0"/>
              </a:rPr>
              <a:t>SIGIR ’94</a:t>
            </a: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, 42–50.</a:t>
            </a:r>
          </a:p>
          <a:p>
            <a:pPr>
              <a:spcAft>
                <a:spcPts val="750"/>
              </a:spcAft>
            </a:pP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Porter, M. F. (1980). An Algorithm for Suffix Stripping. </a:t>
            </a:r>
            <a:r>
              <a:rPr lang="en-IN" sz="1688" i="1">
                <a:solidFill>
                  <a:srgbClr val="1B2A41"/>
                </a:solidFill>
                <a:latin typeface="Calibri" panose="020F0502020204030204" pitchFamily="34" charset="0"/>
              </a:rPr>
              <a:t>Program</a:t>
            </a: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 14(3), 130–137.</a:t>
            </a:r>
          </a:p>
          <a:p>
            <a:pPr>
              <a:spcAft>
                <a:spcPts val="750"/>
              </a:spcAft>
            </a:pP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Sennrich, R., Haddow, B. &amp; Birch, A. (2016). Neural Machine Translation of Rare Words with Subword Units. </a:t>
            </a:r>
            <a:r>
              <a:rPr lang="en-IN" sz="1688" i="1">
                <a:solidFill>
                  <a:srgbClr val="1B2A41"/>
                </a:solidFill>
                <a:latin typeface="Calibri" panose="020F0502020204030204" pitchFamily="34" charset="0"/>
              </a:rPr>
              <a:t>ACL</a:t>
            </a: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Voorhees, E. M. (2000). Variations in Relevance Judgments and the Measurement of Retrieval Effectiveness. </a:t>
            </a:r>
            <a:r>
              <a:rPr lang="en-IN" sz="1688" i="1">
                <a:solidFill>
                  <a:srgbClr val="1B2A41"/>
                </a:solidFill>
                <a:latin typeface="Calibri" panose="020F0502020204030204" pitchFamily="34" charset="0"/>
              </a:rPr>
              <a:t>Information Processing &amp; Management</a:t>
            </a: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 36(5), 697–716.</a:t>
            </a:r>
          </a:p>
          <a:p>
            <a:pPr>
              <a:spcAft>
                <a:spcPts val="750"/>
              </a:spcAft>
            </a:pP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Zhang, X. et al. (2023). MIRACL: A Multilingual Retrieval Dataset Covering 18 Diverse Languages. </a:t>
            </a:r>
            <a:r>
              <a:rPr lang="en-IN" sz="1688" i="1">
                <a:solidFill>
                  <a:srgbClr val="1B2A41"/>
                </a:solidFill>
                <a:latin typeface="Calibri" panose="020F0502020204030204" pitchFamily="34" charset="0"/>
              </a:rPr>
              <a:t>TACL</a:t>
            </a:r>
            <a:r>
              <a:rPr lang="en-IN" sz="1688">
                <a:solidFill>
                  <a:srgbClr val="1B2A41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75B85-4EB2-8F4F-ACF0-6FF1DEE6059D}"/>
              </a:ext>
            </a:extLst>
          </p:cNvPr>
          <p:cNvSpPr txBox="1"/>
          <p:nvPr/>
        </p:nvSpPr>
        <p:spPr>
          <a:xfrm>
            <a:off x="508000" y="6502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Video-Game Search Engine  ·  Priyanka B, Sachin B, Tiya P, Vaidhav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86C32-4B87-7A19-5138-463249A497BA}"/>
              </a:ext>
            </a:extLst>
          </p:cNvPr>
          <p:cNvSpPr txBox="1"/>
          <p:nvPr/>
        </p:nvSpPr>
        <p:spPr>
          <a:xfrm>
            <a:off x="7112000" y="65024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F7152-97AA-1AAE-C720-8E82AFBD635E}"/>
              </a:ext>
            </a:extLst>
          </p:cNvPr>
          <p:cNvSpPr txBox="1"/>
          <p:nvPr/>
        </p:nvSpPr>
        <p:spPr>
          <a:xfrm>
            <a:off x="10160000" y="6502400"/>
            <a:ext cx="152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500"/>
              </a:spcAft>
            </a:pPr>
            <a:r>
              <a:rPr lang="en-IN" sz="1000">
                <a:solidFill>
                  <a:srgbClr val="5F5E59"/>
                </a:solidFill>
                <a:latin typeface="Calibri" panose="020F0502020204030204" pitchFamily="34" charset="0"/>
              </a:rPr>
              <a:t>25 / 26</a:t>
            </a:r>
          </a:p>
        </p:txBody>
      </p:sp>
    </p:spTree>
    <p:extLst>
      <p:ext uri="{BB962C8B-B14F-4D97-AF65-F5344CB8AC3E}">
        <p14:creationId xmlns:p14="http://schemas.microsoft.com/office/powerpoint/2010/main" val="33460866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CE9743-A459-71B6-C2AC-CA63288878D2}"/>
              </a:ext>
            </a:extLst>
          </p:cNvPr>
          <p:cNvSpPr txBox="1"/>
          <p:nvPr/>
        </p:nvSpPr>
        <p:spPr>
          <a:xfrm>
            <a:off x="508000" y="2857500"/>
            <a:ext cx="11176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sz="3000" b="1">
                <a:solidFill>
                  <a:srgbClr val="1B2A41"/>
                </a:solidFill>
                <a:latin typeface="Calibri" panose="020F0502020204030204" pitchFamily="34" charset="0"/>
              </a:rPr>
              <a:t>Thank You for Your Attention!</a:t>
            </a:r>
            <a:endParaRPr lang="en-IN" sz="3000" b="1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F8D17C-C227-D08B-EA03-03796B47E7D5}"/>
              </a:ext>
            </a:extLst>
          </p:cNvPr>
          <p:cNvSpPr txBox="1"/>
          <p:nvPr/>
        </p:nvSpPr>
        <p:spPr>
          <a:xfrm>
            <a:off x="508000" y="3492500"/>
            <a:ext cx="11176000" cy="2844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sz="1700">
                <a:solidFill>
                  <a:srgbClr val="5F5E59"/>
                </a:solidFill>
                <a:latin typeface="Calibri" panose="020F0502020204030204" pitchFamily="34" charset="0"/>
              </a:rPr>
              <a:t>Questions?     The GUI is ready for a live demo.</a:t>
            </a:r>
            <a:endParaRPr lang="en-IN" sz="1700">
              <a:solidFill>
                <a:srgbClr val="5F5E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979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5030</Words>
  <Application>Microsoft Office PowerPoint</Application>
  <PresentationFormat>Custom</PresentationFormat>
  <Paragraphs>763</Paragraphs>
  <Slides>31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Bhatt</dc:creator>
  <cp:lastModifiedBy>Priyanka Bhatt</cp:lastModifiedBy>
  <cp:revision>1</cp:revision>
  <dcterms:created xsi:type="dcterms:W3CDTF">2026-10-03T15:12:28Z</dcterms:created>
  <dcterms:modified xsi:type="dcterms:W3CDTF">2026-10-03T15:12:28Z</dcterms:modified>
</cp:coreProperties>
</file>